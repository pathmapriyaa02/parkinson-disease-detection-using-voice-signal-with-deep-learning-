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7" r:id="rId2"/>
    <p:sldId id="272" r:id="rId3"/>
    <p:sldId id="278" r:id="rId4"/>
    <p:sldId id="297" r:id="rId5"/>
    <p:sldId id="293" r:id="rId6"/>
    <p:sldId id="259" r:id="rId7"/>
    <p:sldId id="281" r:id="rId8"/>
    <p:sldId id="279" r:id="rId9"/>
    <p:sldId id="292" r:id="rId10"/>
    <p:sldId id="262" r:id="rId11"/>
    <p:sldId id="271" r:id="rId12"/>
    <p:sldId id="300" r:id="rId13"/>
    <p:sldId id="295" r:id="rId14"/>
    <p:sldId id="264" r:id="rId15"/>
    <p:sldId id="268" r:id="rId16"/>
    <p:sldId id="301" r:id="rId17"/>
    <p:sldId id="302" r:id="rId18"/>
    <p:sldId id="285" r:id="rId19"/>
    <p:sldId id="265" r:id="rId20"/>
    <p:sldId id="266" r:id="rId21"/>
    <p:sldId id="276" r:id="rId22"/>
    <p:sldId id="275" r:id="rId23"/>
  </p:sldIdLst>
  <p:sldSz cx="18288000" cy="10287000"/>
  <p:notesSz cx="6858000" cy="9144000"/>
  <p:embeddedFontLst>
    <p:embeddedFont>
      <p:font typeface="Algerian" panose="04020705040A02060702" pitchFamily="82" charset="0"/>
      <p:regular r:id="rId24"/>
    </p:embeddedFont>
    <p:embeddedFont>
      <p:font typeface="Poppins" panose="00000500000000000000" pitchFamily="2" charset="0"/>
      <p:regular r:id="rId25"/>
      <p:bold r:id="rId26"/>
      <p:italic r:id="rId27"/>
      <p:boldItalic r:id="rId28"/>
    </p:embeddedFont>
    <p:embeddedFont>
      <p:font typeface="Poppins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22" autoAdjust="0"/>
  </p:normalViewPr>
  <p:slideViewPr>
    <p:cSldViewPr>
      <p:cViewPr varScale="1">
        <p:scale>
          <a:sx n="42" d="100"/>
          <a:sy n="42" d="100"/>
        </p:scale>
        <p:origin x="4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C4157C4-889E-8F6C-3C22-DABAA3AE98F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3" name="TextBox 2">
            <a:extLst>
              <a:ext uri="{FF2B5EF4-FFF2-40B4-BE49-F238E27FC236}">
                <a16:creationId xmlns:a16="http://schemas.microsoft.com/office/drawing/2014/main" id="{B528E2CD-FBC5-F0DF-AD58-F7640B5038FD}"/>
              </a:ext>
            </a:extLst>
          </p:cNvPr>
          <p:cNvSpPr txBox="1"/>
          <p:nvPr/>
        </p:nvSpPr>
        <p:spPr>
          <a:xfrm>
            <a:off x="2133600" y="2842230"/>
            <a:ext cx="14325600" cy="1569660"/>
          </a:xfrm>
          <a:prstGeom prst="rect">
            <a:avLst/>
          </a:prstGeom>
          <a:noFill/>
        </p:spPr>
        <p:txBody>
          <a:bodyPr wrap="square" rtlCol="0">
            <a:spAutoFit/>
          </a:bodyPr>
          <a:lstStyle/>
          <a:p>
            <a:pPr algn="ctr"/>
            <a:r>
              <a:rPr lang="en-IN" sz="4800" b="1" dirty="0">
                <a:latin typeface="Times New Roman" panose="02020603050405020304" pitchFamily="18" charset="0"/>
                <a:cs typeface="Times New Roman" panose="02020603050405020304" pitchFamily="18" charset="0"/>
              </a:rPr>
              <a:t>PARKINSON’S DISEASE DETECTION USING VOICE SIGNALS WITH DEEP LEARNING</a:t>
            </a:r>
            <a:endParaRPr lang="en-IN" sz="4800" dirty="0"/>
          </a:p>
        </p:txBody>
      </p:sp>
      <p:sp>
        <p:nvSpPr>
          <p:cNvPr id="4" name="TextBox 3">
            <a:extLst>
              <a:ext uri="{FF2B5EF4-FFF2-40B4-BE49-F238E27FC236}">
                <a16:creationId xmlns:a16="http://schemas.microsoft.com/office/drawing/2014/main" id="{0B41376A-6391-451C-C836-7A198646F087}"/>
              </a:ext>
            </a:extLst>
          </p:cNvPr>
          <p:cNvSpPr txBox="1"/>
          <p:nvPr/>
        </p:nvSpPr>
        <p:spPr>
          <a:xfrm>
            <a:off x="1295400" y="6659940"/>
            <a:ext cx="6019800" cy="1569660"/>
          </a:xfrm>
          <a:prstGeom prst="rect">
            <a:avLst/>
          </a:prstGeom>
          <a:noFill/>
        </p:spPr>
        <p:txBody>
          <a:bodyPr wrap="square" rtlCol="0">
            <a:spAutoFit/>
          </a:bodyPr>
          <a:lstStyle/>
          <a:p>
            <a:r>
              <a:rPr lang="en-IN" dirty="0">
                <a:solidFill>
                  <a:schemeClr val="accent4">
                    <a:lumMod val="75000"/>
                  </a:schemeClr>
                </a:solidFill>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PRESENTED BY</a:t>
            </a:r>
          </a:p>
          <a:p>
            <a:r>
              <a:rPr lang="en-IN" sz="3200" dirty="0">
                <a:latin typeface="Times New Roman" panose="02020603050405020304" pitchFamily="18" charset="0"/>
                <a:cs typeface="Times New Roman" panose="02020603050405020304" pitchFamily="18" charset="0"/>
              </a:rPr>
              <a:t>    Reshma S-810022104074</a:t>
            </a:r>
          </a:p>
          <a:p>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Pathmapriyaa</a:t>
            </a:r>
            <a:r>
              <a:rPr lang="en-IN" sz="3200" dirty="0">
                <a:latin typeface="Times New Roman" panose="02020603050405020304" pitchFamily="18" charset="0"/>
                <a:cs typeface="Times New Roman" panose="02020603050405020304" pitchFamily="18" charset="0"/>
              </a:rPr>
              <a:t> E-810022104100</a:t>
            </a:r>
            <a:endParaRPr lang="en-IN" sz="3200" dirty="0"/>
          </a:p>
        </p:txBody>
      </p:sp>
      <p:sp>
        <p:nvSpPr>
          <p:cNvPr id="6" name="TextBox 5">
            <a:extLst>
              <a:ext uri="{FF2B5EF4-FFF2-40B4-BE49-F238E27FC236}">
                <a16:creationId xmlns:a16="http://schemas.microsoft.com/office/drawing/2014/main" id="{E15459DA-1C26-E763-EA1A-614BC4ADAF55}"/>
              </a:ext>
            </a:extLst>
          </p:cNvPr>
          <p:cNvSpPr txBox="1"/>
          <p:nvPr/>
        </p:nvSpPr>
        <p:spPr>
          <a:xfrm>
            <a:off x="11582400" y="6819900"/>
            <a:ext cx="4876800" cy="1846659"/>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GUIDED BY</a:t>
            </a:r>
          </a:p>
          <a:p>
            <a:pPr algn="ctr"/>
            <a:r>
              <a:rPr lang="en-IN" sz="3200" dirty="0" err="1">
                <a:latin typeface="Times New Roman" panose="02020603050405020304" pitchFamily="18" charset="0"/>
                <a:cs typeface="Times New Roman" panose="02020603050405020304" pitchFamily="18" charset="0"/>
              </a:rPr>
              <a:t>Dr.S.Usha</a:t>
            </a:r>
            <a:endParaRPr lang="en-IN" sz="3200" dirty="0">
              <a:latin typeface="Times New Roman" panose="02020603050405020304" pitchFamily="18" charset="0"/>
              <a:cs typeface="Times New Roman" panose="02020603050405020304" pitchFamily="18" charset="0"/>
            </a:endParaRPr>
          </a:p>
          <a:p>
            <a:pPr algn="ctr"/>
            <a:r>
              <a:rPr lang="en-IN" sz="3200" dirty="0">
                <a:latin typeface="Times New Roman" panose="02020603050405020304" pitchFamily="18" charset="0"/>
                <a:cs typeface="Times New Roman" panose="02020603050405020304" pitchFamily="18" charset="0"/>
              </a:rPr>
              <a:t>Assistant Professor(</a:t>
            </a:r>
            <a:r>
              <a:rPr lang="en-IN" sz="3200" dirty="0" err="1">
                <a:latin typeface="Times New Roman" panose="02020603050405020304" pitchFamily="18" charset="0"/>
                <a:cs typeface="Times New Roman" panose="02020603050405020304" pitchFamily="18" charset="0"/>
              </a:rPr>
              <a:t>Sl.Gr</a:t>
            </a:r>
            <a:r>
              <a:rPr lang="en-IN" sz="3200" dirty="0">
                <a:latin typeface="Times New Roman" panose="02020603050405020304" pitchFamily="18" charset="0"/>
                <a:cs typeface="Times New Roman" panose="02020603050405020304" pitchFamily="18" charset="0"/>
              </a:rPr>
              <a:t>)</a:t>
            </a:r>
          </a:p>
          <a:p>
            <a:endParaRPr lang="en-IN" dirty="0"/>
          </a:p>
        </p:txBody>
      </p:sp>
      <p:pic>
        <p:nvPicPr>
          <p:cNvPr id="5" name="Picture 4">
            <a:extLst>
              <a:ext uri="{FF2B5EF4-FFF2-40B4-BE49-F238E27FC236}">
                <a16:creationId xmlns:a16="http://schemas.microsoft.com/office/drawing/2014/main" id="{76369DF7-56BF-223F-116D-F55014BDF0C7}"/>
              </a:ext>
            </a:extLst>
          </p:cNvPr>
          <p:cNvPicPr>
            <a:picLocks noChangeAspect="1"/>
          </p:cNvPicPr>
          <p:nvPr/>
        </p:nvPicPr>
        <p:blipFill>
          <a:blip r:embed="rId3"/>
          <a:stretch>
            <a:fillRect/>
          </a:stretch>
        </p:blipFill>
        <p:spPr>
          <a:xfrm>
            <a:off x="990600" y="594180"/>
            <a:ext cx="1493649" cy="1359526"/>
          </a:xfrm>
          <a:prstGeom prst="rect">
            <a:avLst/>
          </a:prstGeom>
        </p:spPr>
      </p:pic>
      <p:sp>
        <p:nvSpPr>
          <p:cNvPr id="8" name="TextBox 7">
            <a:extLst>
              <a:ext uri="{FF2B5EF4-FFF2-40B4-BE49-F238E27FC236}">
                <a16:creationId xmlns:a16="http://schemas.microsoft.com/office/drawing/2014/main" id="{87B35C22-93F2-46D8-16DE-8FE99D9FD11C}"/>
              </a:ext>
            </a:extLst>
          </p:cNvPr>
          <p:cNvSpPr txBox="1"/>
          <p:nvPr/>
        </p:nvSpPr>
        <p:spPr>
          <a:xfrm>
            <a:off x="5105400" y="665950"/>
            <a:ext cx="9144000" cy="1195199"/>
          </a:xfrm>
          <a:prstGeom prst="rect">
            <a:avLst/>
          </a:prstGeom>
          <a:noFill/>
        </p:spPr>
        <p:txBody>
          <a:bodyPr wrap="square">
            <a:spAutoFit/>
          </a:bodyPr>
          <a:lstStyle/>
          <a:p>
            <a:pPr marL="12700" marR="5080" algn="ctr">
              <a:lnSpc>
                <a:spcPts val="4320"/>
              </a:lnSpc>
              <a:spcBef>
                <a:spcPts val="640"/>
              </a:spcBef>
            </a:pPr>
            <a:r>
              <a:rPr lang="en-US" altLang="en-US" sz="3600" dirty="0">
                <a:latin typeface="Times New Roman" panose="02020603050405020304" pitchFamily="18" charset="0"/>
                <a:cs typeface="Times New Roman" panose="02020603050405020304" pitchFamily="18" charset="0"/>
              </a:rPr>
              <a:t>UNIVERSITY COLLEGE OF ENGINEERING (BIT CAMPUS) TIRUCHIRAPPALLI</a:t>
            </a:r>
            <a:endParaRPr lang="en-IN"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351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0A3AC0F-1377-1AE2-CC98-C231E4585EBD}"/>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3" name="TextBox 2">
            <a:extLst>
              <a:ext uri="{FF2B5EF4-FFF2-40B4-BE49-F238E27FC236}">
                <a16:creationId xmlns:a16="http://schemas.microsoft.com/office/drawing/2014/main" id="{404DA650-0F75-3EEF-4CB6-E19F35086ED2}"/>
              </a:ext>
            </a:extLst>
          </p:cNvPr>
          <p:cNvSpPr txBox="1"/>
          <p:nvPr/>
        </p:nvSpPr>
        <p:spPr>
          <a:xfrm>
            <a:off x="1219200" y="1485900"/>
            <a:ext cx="6019800" cy="1200329"/>
          </a:xfrm>
          <a:prstGeom prst="rect">
            <a:avLst/>
          </a:prstGeom>
          <a:noFill/>
        </p:spPr>
        <p:txBody>
          <a:bodyPr wrap="square" rtlCol="0">
            <a:spAutoFit/>
          </a:bodyPr>
          <a:lstStyle/>
          <a:p>
            <a:r>
              <a:rPr lang="en-US" sz="5400" b="1" dirty="0">
                <a:solidFill>
                  <a:schemeClr val="tx1">
                    <a:lumMod val="75000"/>
                    <a:lumOff val="25000"/>
                  </a:schemeClr>
                </a:solidFill>
                <a:latin typeface="Times New Roman" panose="02020603050405020304" pitchFamily="18" charset="0"/>
                <a:ea typeface="Brick Sans"/>
                <a:cs typeface="Times New Roman" panose="02020603050405020304" pitchFamily="18" charset="0"/>
                <a:sym typeface="Brick Sans"/>
              </a:rPr>
              <a:t>INTRODUCTION</a:t>
            </a:r>
          </a:p>
          <a:p>
            <a:endParaRPr lang="en-IN" dirty="0"/>
          </a:p>
        </p:txBody>
      </p:sp>
      <p:sp>
        <p:nvSpPr>
          <p:cNvPr id="4" name="TextBox 3">
            <a:extLst>
              <a:ext uri="{FF2B5EF4-FFF2-40B4-BE49-F238E27FC236}">
                <a16:creationId xmlns:a16="http://schemas.microsoft.com/office/drawing/2014/main" id="{B769CC6D-E4DE-58ED-6F87-6306C5A5EBE8}"/>
              </a:ext>
            </a:extLst>
          </p:cNvPr>
          <p:cNvSpPr txBox="1"/>
          <p:nvPr/>
        </p:nvSpPr>
        <p:spPr>
          <a:xfrm>
            <a:off x="1828800" y="3314700"/>
            <a:ext cx="15621000" cy="3970318"/>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Parkinson’s Disease is a neurological disorder that affects movement and speech.</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Early symptoms often appear as changes in voice, such as reduced loudness and irregular pitch variations.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Common symptoms include tremors, rigidity, slowness of movement (bradykinesia), postural instability, and speech impairments.</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Voice-based analysis is a non-invasive and cost-effective method for early detection. </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86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3757A-89CA-39BC-D40E-312DF48DFE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D89794-D8D8-5BB8-2B46-FE4B32A4E139}"/>
              </a:ext>
            </a:extLst>
          </p:cNvPr>
          <p:cNvSpPr/>
          <p:nvPr/>
        </p:nvSpPr>
        <p:spPr>
          <a:xfrm>
            <a:off x="-1524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5" name="TextBox 4">
            <a:extLst>
              <a:ext uri="{FF2B5EF4-FFF2-40B4-BE49-F238E27FC236}">
                <a16:creationId xmlns:a16="http://schemas.microsoft.com/office/drawing/2014/main" id="{77BDAC7C-E57C-6A8F-C450-F51597EB6A24}"/>
              </a:ext>
            </a:extLst>
          </p:cNvPr>
          <p:cNvSpPr txBox="1"/>
          <p:nvPr/>
        </p:nvSpPr>
        <p:spPr>
          <a:xfrm>
            <a:off x="1356852" y="1409700"/>
            <a:ext cx="15544800" cy="5355312"/>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EXISTING SYSTEM</a:t>
            </a: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Most existing systems use traditional machine learning models such as Support Vector Machine (SVM), K-Nearest Neighbors (KNN), and Decision Trees to detect Parkinson’s disease from voice data.</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These systems depend on manual feature extraction, where features like jitter, shimmer, and pitch must be selected by the developer.</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Traditional models often perform well on controlled datasets, but can struggle with noisy real-world recordings.</a:t>
            </a:r>
          </a:p>
        </p:txBody>
      </p:sp>
    </p:spTree>
    <p:extLst>
      <p:ext uri="{BB962C8B-B14F-4D97-AF65-F5344CB8AC3E}">
        <p14:creationId xmlns:p14="http://schemas.microsoft.com/office/powerpoint/2010/main" val="2773111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7243-5E99-3A53-9F43-E533D63BDC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30CF21-2AFA-63B2-D99F-40D8AFF8DAA3}"/>
              </a:ext>
            </a:extLst>
          </p:cNvPr>
          <p:cNvSpPr/>
          <p:nvPr/>
        </p:nvSpPr>
        <p:spPr>
          <a:xfrm>
            <a:off x="-1524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5" name="TextBox 4">
            <a:extLst>
              <a:ext uri="{FF2B5EF4-FFF2-40B4-BE49-F238E27FC236}">
                <a16:creationId xmlns:a16="http://schemas.microsoft.com/office/drawing/2014/main" id="{EB1C2B34-649F-A319-53F9-0BD74BF14D22}"/>
              </a:ext>
            </a:extLst>
          </p:cNvPr>
          <p:cNvSpPr txBox="1"/>
          <p:nvPr/>
        </p:nvSpPr>
        <p:spPr>
          <a:xfrm>
            <a:off x="762000" y="571500"/>
            <a:ext cx="15544800" cy="1908215"/>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LIMITATIONS</a:t>
            </a: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E916174-02EA-5A68-4CD3-D368C32DDF06}"/>
              </a:ext>
            </a:extLst>
          </p:cNvPr>
          <p:cNvSpPr txBox="1"/>
          <p:nvPr/>
        </p:nvSpPr>
        <p:spPr>
          <a:xfrm>
            <a:off x="1295400" y="2479715"/>
            <a:ext cx="15240000" cy="5632311"/>
          </a:xfrm>
          <a:prstGeom prst="rect">
            <a:avLst/>
          </a:prstGeom>
          <a:noFill/>
        </p:spPr>
        <p:txBody>
          <a:bodyPr wrap="square" rtlCol="0">
            <a:spAutoFit/>
          </a:bodyPr>
          <a:lstStyle/>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Reliance on traditional ML models (SVM, KNN, Decision Trees) with manual feature extraction</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Poor performance on real-world noisy data and varying recording conditions</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Inability to capture both temporal (time) and spectral (frequency) features effectively</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Lack of real-time processing for continuous monitoring</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No integrated platform for end-to-end analysis (processing → prediction → reporting)</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Limited user accessibility (not user-friendly or web-based)</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Absence of automated risk assessment and clear result interpretation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063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A7CFC-D794-CCC2-3668-93A5FDA4C15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E420CA-41E5-1A15-C5E5-4628943192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3" name="TextBox 2">
            <a:extLst>
              <a:ext uri="{FF2B5EF4-FFF2-40B4-BE49-F238E27FC236}">
                <a16:creationId xmlns:a16="http://schemas.microsoft.com/office/drawing/2014/main" id="{414608B3-80DE-1031-C66C-4CBCD6E76DCB}"/>
              </a:ext>
            </a:extLst>
          </p:cNvPr>
          <p:cNvSpPr txBox="1"/>
          <p:nvPr/>
        </p:nvSpPr>
        <p:spPr>
          <a:xfrm>
            <a:off x="1219200" y="1485900"/>
            <a:ext cx="6019800" cy="1200329"/>
          </a:xfrm>
          <a:prstGeom prst="rect">
            <a:avLst/>
          </a:prstGeom>
          <a:noFill/>
        </p:spPr>
        <p:txBody>
          <a:bodyPr wrap="square" rtlCol="0">
            <a:spAutoFit/>
          </a:bodyPr>
          <a:lstStyle/>
          <a:p>
            <a:r>
              <a:rPr lang="en-US" sz="5400" b="1" dirty="0">
                <a:solidFill>
                  <a:schemeClr val="tx1">
                    <a:lumMod val="75000"/>
                    <a:lumOff val="25000"/>
                  </a:schemeClr>
                </a:solidFill>
                <a:latin typeface="Times New Roman" panose="02020603050405020304" pitchFamily="18" charset="0"/>
                <a:ea typeface="Poppins Bold"/>
                <a:cs typeface="Times New Roman" panose="02020603050405020304" pitchFamily="18" charset="0"/>
                <a:sym typeface="Poppins Bold"/>
              </a:rPr>
              <a:t>OBJECTIVE</a:t>
            </a:r>
            <a:endParaRPr lang="en-US" sz="5400" b="1" dirty="0">
              <a:solidFill>
                <a:schemeClr val="tx1">
                  <a:lumMod val="75000"/>
                  <a:lumOff val="25000"/>
                </a:schemeClr>
              </a:solidFill>
              <a:latin typeface="Times New Roman" panose="02020603050405020304" pitchFamily="18" charset="0"/>
              <a:ea typeface="Brick Sans"/>
              <a:cs typeface="Times New Roman" panose="02020603050405020304" pitchFamily="18" charset="0"/>
              <a:sym typeface="Brick Sans"/>
            </a:endParaRPr>
          </a:p>
          <a:p>
            <a:endParaRPr lang="en-IN" dirty="0"/>
          </a:p>
        </p:txBody>
      </p:sp>
      <p:sp>
        <p:nvSpPr>
          <p:cNvPr id="5" name="TextBox 4">
            <a:extLst>
              <a:ext uri="{FF2B5EF4-FFF2-40B4-BE49-F238E27FC236}">
                <a16:creationId xmlns:a16="http://schemas.microsoft.com/office/drawing/2014/main" id="{EAAFB0D3-2ECA-3332-716E-EB9B106C9FF8}"/>
              </a:ext>
            </a:extLst>
          </p:cNvPr>
          <p:cNvSpPr txBox="1"/>
          <p:nvPr/>
        </p:nvSpPr>
        <p:spPr>
          <a:xfrm>
            <a:off x="1828800" y="3086100"/>
            <a:ext cx="15316200" cy="3693319"/>
          </a:xfrm>
          <a:prstGeom prst="rect">
            <a:avLst/>
          </a:prstGeom>
          <a:noFill/>
        </p:spPr>
        <p:txBody>
          <a:bodyPr wrap="square" rtlCol="0">
            <a:spAutoFit/>
          </a:bodyPr>
          <a:lstStyle/>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detect Parkinson’s Disease using voice signals by analyzing speech variations and extracting features such as MFCC and related spectral features.</a:t>
            </a: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apply a CNN +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Autoencoder model to automatically learn voice patterns and identify abnormalities.</a:t>
            </a: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classify individuals as normal or potentially Parkinson’s affected, thereby supporting early and non-invasive diagnosis of Parkinson’s Disease.</a:t>
            </a:r>
          </a:p>
          <a:p>
            <a:endParaRPr lang="en-IN" dirty="0"/>
          </a:p>
        </p:txBody>
      </p:sp>
    </p:spTree>
    <p:extLst>
      <p:ext uri="{BB962C8B-B14F-4D97-AF65-F5344CB8AC3E}">
        <p14:creationId xmlns:p14="http://schemas.microsoft.com/office/powerpoint/2010/main" val="1642184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4" name="TextBox 4"/>
          <p:cNvSpPr txBox="1"/>
          <p:nvPr/>
        </p:nvSpPr>
        <p:spPr>
          <a:xfrm>
            <a:off x="761999" y="571500"/>
            <a:ext cx="12147821" cy="686919"/>
          </a:xfrm>
          <a:prstGeom prst="rect">
            <a:avLst/>
          </a:prstGeom>
        </p:spPr>
        <p:txBody>
          <a:bodyPr wrap="square" lIns="0" tIns="0" rIns="0" bIns="0" rtlCol="0" anchor="t">
            <a:spAutoFit/>
          </a:bodyPr>
          <a:lstStyle/>
          <a:p>
            <a:pPr>
              <a:lnSpc>
                <a:spcPts val="5179"/>
              </a:lnSpc>
              <a:spcBef>
                <a:spcPct val="0"/>
              </a:spcBef>
            </a:pPr>
            <a:r>
              <a:rPr lang="en-IN" sz="5400" b="1" dirty="0">
                <a:latin typeface="Times New Roman" panose="02020603050405020304" pitchFamily="18" charset="0"/>
                <a:cs typeface="Times New Roman" panose="02020603050405020304" pitchFamily="18" charset="0"/>
              </a:rPr>
              <a:t>LITERATURE SURVEY</a:t>
            </a:r>
            <a:endParaRPr lang="en-US" sz="5400" b="1" dirty="0">
              <a:solidFill>
                <a:schemeClr val="tx1">
                  <a:lumMod val="75000"/>
                  <a:lumOff val="25000"/>
                </a:schemeClr>
              </a:solidFill>
              <a:latin typeface="Poppins Bold"/>
              <a:ea typeface="Poppins Bold"/>
              <a:cs typeface="Poppins Bold"/>
              <a:sym typeface="Poppins Bold"/>
            </a:endParaRPr>
          </a:p>
        </p:txBody>
      </p:sp>
      <p:graphicFrame>
        <p:nvGraphicFramePr>
          <p:cNvPr id="3" name="Table 2">
            <a:extLst>
              <a:ext uri="{FF2B5EF4-FFF2-40B4-BE49-F238E27FC236}">
                <a16:creationId xmlns:a16="http://schemas.microsoft.com/office/drawing/2014/main" id="{3AB06841-2395-86F8-A9A0-65DEC628BBCC}"/>
              </a:ext>
            </a:extLst>
          </p:cNvPr>
          <p:cNvGraphicFramePr>
            <a:graphicFrameLocks noGrp="1"/>
          </p:cNvGraphicFramePr>
          <p:nvPr>
            <p:extLst>
              <p:ext uri="{D42A27DB-BD31-4B8C-83A1-F6EECF244321}">
                <p14:modId xmlns:p14="http://schemas.microsoft.com/office/powerpoint/2010/main" val="1803066686"/>
              </p:ext>
            </p:extLst>
          </p:nvPr>
        </p:nvGraphicFramePr>
        <p:xfrm>
          <a:off x="762000" y="1795448"/>
          <a:ext cx="16764001" cy="813816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630710737"/>
                    </a:ext>
                  </a:extLst>
                </a:gridCol>
                <a:gridCol w="2841477">
                  <a:extLst>
                    <a:ext uri="{9D8B030D-6E8A-4147-A177-3AD203B41FA5}">
                      <a16:colId xmlns:a16="http://schemas.microsoft.com/office/drawing/2014/main" val="3057892782"/>
                    </a:ext>
                  </a:extLst>
                </a:gridCol>
                <a:gridCol w="2036747">
                  <a:extLst>
                    <a:ext uri="{9D8B030D-6E8A-4147-A177-3AD203B41FA5}">
                      <a16:colId xmlns:a16="http://schemas.microsoft.com/office/drawing/2014/main" val="1095117156"/>
                    </a:ext>
                  </a:extLst>
                </a:gridCol>
                <a:gridCol w="1566729">
                  <a:extLst>
                    <a:ext uri="{9D8B030D-6E8A-4147-A177-3AD203B41FA5}">
                      <a16:colId xmlns:a16="http://schemas.microsoft.com/office/drawing/2014/main" val="3760510179"/>
                    </a:ext>
                  </a:extLst>
                </a:gridCol>
                <a:gridCol w="3689648">
                  <a:extLst>
                    <a:ext uri="{9D8B030D-6E8A-4147-A177-3AD203B41FA5}">
                      <a16:colId xmlns:a16="http://schemas.microsoft.com/office/drawing/2014/main" val="2148668337"/>
                    </a:ext>
                  </a:extLst>
                </a:gridCol>
                <a:gridCol w="2968948">
                  <a:extLst>
                    <a:ext uri="{9D8B030D-6E8A-4147-A177-3AD203B41FA5}">
                      <a16:colId xmlns:a16="http://schemas.microsoft.com/office/drawing/2014/main" val="4137734635"/>
                    </a:ext>
                  </a:extLst>
                </a:gridCol>
                <a:gridCol w="2898452">
                  <a:extLst>
                    <a:ext uri="{9D8B030D-6E8A-4147-A177-3AD203B41FA5}">
                      <a16:colId xmlns:a16="http://schemas.microsoft.com/office/drawing/2014/main" val="4282765026"/>
                    </a:ext>
                  </a:extLst>
                </a:gridCol>
              </a:tblGrid>
              <a:tr h="1148972">
                <a:tc>
                  <a:txBody>
                    <a:bodyPr/>
                    <a:lstStyle/>
                    <a:p>
                      <a:r>
                        <a:rPr lang="en-IN" dirty="0"/>
                        <a:t> S.NO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mn-lt"/>
                          <a:ea typeface="+mn-ea"/>
                          <a:cs typeface="+mn-cs"/>
                        </a:rPr>
                        <a:t>TITLE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AUTHORS NAME</a:t>
                      </a:r>
                    </a:p>
                  </a:txBody>
                  <a:tcPr/>
                </a:tc>
                <a:tc>
                  <a:txBody>
                    <a:bodyPr/>
                    <a:lstStyle/>
                    <a:p>
                      <a:r>
                        <a:rPr lang="en-IN" sz="1800" b="1" kern="1200" dirty="0">
                          <a:solidFill>
                            <a:schemeClr val="lt1"/>
                          </a:solidFill>
                          <a:effectLst/>
                          <a:latin typeface="+mn-lt"/>
                          <a:ea typeface="+mn-ea"/>
                          <a:cs typeface="+mn-cs"/>
                        </a:rPr>
                        <a:t>YEAR/ PUBLISHE</a:t>
                      </a:r>
                    </a:p>
                    <a:p>
                      <a:r>
                        <a:rPr lang="en-IN" sz="1800" b="1" kern="1200" dirty="0">
                          <a:solidFill>
                            <a:schemeClr val="lt1"/>
                          </a:solidFill>
                          <a:effectLst/>
                          <a:latin typeface="+mn-lt"/>
                          <a:ea typeface="+mn-ea"/>
                          <a:cs typeface="+mn-cs"/>
                        </a:rPr>
                        <a:t> </a:t>
                      </a:r>
                      <a:endParaRPr lang="en-IN" dirty="0"/>
                    </a:p>
                    <a:p>
                      <a:endParaRPr lang="en-IN" dirty="0"/>
                    </a:p>
                  </a:txBody>
                  <a:tcPr/>
                </a:tc>
                <a:tc>
                  <a:txBody>
                    <a:bodyPr/>
                    <a:lstStyle/>
                    <a:p>
                      <a:r>
                        <a:rPr lang="en-IN" sz="1800" b="1" kern="1200" dirty="0">
                          <a:solidFill>
                            <a:schemeClr val="lt1"/>
                          </a:solidFill>
                          <a:effectLst/>
                          <a:latin typeface="+mn-lt"/>
                          <a:ea typeface="+mn-ea"/>
                          <a:cs typeface="+mn-cs"/>
                        </a:rPr>
                        <a:t>METHOD/ </a:t>
                      </a:r>
                    </a:p>
                    <a:p>
                      <a:r>
                        <a:rPr lang="en-IN" sz="1800" b="1" kern="1200" dirty="0">
                          <a:solidFill>
                            <a:schemeClr val="lt1"/>
                          </a:solidFill>
                          <a:effectLst/>
                          <a:latin typeface="+mn-lt"/>
                          <a:ea typeface="+mn-ea"/>
                          <a:cs typeface="+mn-cs"/>
                        </a:rPr>
                        <a:t>TECHNOLOGY</a:t>
                      </a:r>
                      <a:endParaRPr lang="en-IN" dirty="0"/>
                    </a:p>
                    <a:p>
                      <a:endParaRPr lang="en-IN" dirty="0"/>
                    </a:p>
                  </a:txBody>
                  <a:tcPr/>
                </a:tc>
                <a:tc>
                  <a:txBody>
                    <a:bodyPr/>
                    <a:lstStyle/>
                    <a:p>
                      <a:r>
                        <a:rPr lang="en-IN" sz="1800" b="1" kern="1200" dirty="0">
                          <a:solidFill>
                            <a:schemeClr val="lt1"/>
                          </a:solidFill>
                          <a:effectLst/>
                          <a:latin typeface="+mn-lt"/>
                          <a:ea typeface="+mn-ea"/>
                          <a:cs typeface="+mn-cs"/>
                        </a:rPr>
                        <a:t>LIMITATIONS </a:t>
                      </a:r>
                      <a:endParaRPr lang="en-IN" dirty="0"/>
                    </a:p>
                  </a:txBody>
                  <a:tcPr/>
                </a:tc>
                <a:tc>
                  <a:txBody>
                    <a:bodyPr/>
                    <a:lstStyle/>
                    <a:p>
                      <a:r>
                        <a:rPr lang="en-IN" sz="1800" b="1" kern="1200" dirty="0">
                          <a:solidFill>
                            <a:schemeClr val="lt1"/>
                          </a:solidFill>
                          <a:effectLst/>
                          <a:latin typeface="+mn-lt"/>
                          <a:ea typeface="+mn-ea"/>
                          <a:cs typeface="+mn-cs"/>
                        </a:rPr>
                        <a:t>FUTURE WORK </a:t>
                      </a:r>
                      <a:endParaRPr lang="en-IN" dirty="0"/>
                    </a:p>
                  </a:txBody>
                  <a:tcPr/>
                </a:tc>
                <a:extLst>
                  <a:ext uri="{0D108BD9-81ED-4DB2-BD59-A6C34878D82A}">
                    <a16:rowId xmlns:a16="http://schemas.microsoft.com/office/drawing/2014/main" val="854519873"/>
                  </a:ext>
                </a:extLst>
              </a:tr>
              <a:tr h="1733279">
                <a:tc>
                  <a:txBody>
                    <a:bodyPr/>
                    <a:lstStyle/>
                    <a:p>
                      <a:r>
                        <a:rPr lang="en-IN" sz="1800" kern="1200" dirty="0">
                          <a:solidFill>
                            <a:schemeClr val="dk1"/>
                          </a:solidFill>
                          <a:effectLst/>
                          <a:latin typeface="+mn-lt"/>
                          <a:ea typeface="+mn-ea"/>
                          <a:cs typeface="+mn-cs"/>
                        </a:rPr>
                        <a:t>1. </a:t>
                      </a:r>
                      <a:endParaRPr lang="en-IN" dirty="0"/>
                    </a:p>
                  </a:txBody>
                  <a:tcPr/>
                </a:tc>
                <a:tc>
                  <a:txBody>
                    <a:bodyPr/>
                    <a:lstStyle/>
                    <a:p>
                      <a:pPr lvl="0" algn="l"/>
                      <a:r>
                        <a:rPr lang="en-IN" sz="1800" kern="1200" dirty="0">
                          <a:solidFill>
                            <a:schemeClr val="dk1"/>
                          </a:solidFill>
                          <a:effectLst/>
                          <a:latin typeface="+mn-lt"/>
                          <a:ea typeface="+mn-ea"/>
                          <a:cs typeface="+mn-cs"/>
                        </a:rPr>
                        <a:t>Characterizing </a:t>
                      </a:r>
                    </a:p>
                    <a:p>
                      <a:pPr lvl="0" algn="l"/>
                      <a:r>
                        <a:rPr lang="en-IN" sz="1800" kern="1200" dirty="0">
                          <a:solidFill>
                            <a:schemeClr val="dk1"/>
                          </a:solidFill>
                          <a:effectLst/>
                          <a:latin typeface="+mn-lt"/>
                          <a:ea typeface="+mn-ea"/>
                          <a:cs typeface="+mn-cs"/>
                        </a:rPr>
                        <a:t>Disease Progression in </a:t>
                      </a:r>
                    </a:p>
                    <a:p>
                      <a:pPr lvl="0" algn="l"/>
                      <a:r>
                        <a:rPr lang="en-IN" sz="1800" kern="1200" dirty="0">
                          <a:solidFill>
                            <a:schemeClr val="dk1"/>
                          </a:solidFill>
                          <a:effectLst/>
                          <a:latin typeface="+mn-lt"/>
                          <a:ea typeface="+mn-ea"/>
                          <a:cs typeface="+mn-cs"/>
                        </a:rPr>
                        <a:t>Parkinson’s Disease from </a:t>
                      </a:r>
                    </a:p>
                    <a:p>
                      <a:pPr lvl="0" algn="l"/>
                      <a:r>
                        <a:rPr lang="en-IN" sz="1800" kern="1200" dirty="0">
                          <a:solidFill>
                            <a:schemeClr val="dk1"/>
                          </a:solidFill>
                          <a:effectLst/>
                          <a:latin typeface="+mn-lt"/>
                          <a:ea typeface="+mn-ea"/>
                          <a:cs typeface="+mn-cs"/>
                        </a:rPr>
                        <a:t>Videos of the Finger Tapping Test </a:t>
                      </a:r>
                      <a:endParaRPr lang="en-IN" dirty="0"/>
                    </a:p>
                  </a:txBody>
                  <a:tcPr/>
                </a:tc>
                <a:tc>
                  <a:txBody>
                    <a:bodyPr/>
                    <a:lstStyle/>
                    <a:p>
                      <a:r>
                        <a:rPr lang="en-IN" sz="1800" kern="1200" dirty="0">
                          <a:solidFill>
                            <a:schemeClr val="dk1"/>
                          </a:solidFill>
                          <a:effectLst/>
                          <a:latin typeface="+mn-lt"/>
                          <a:ea typeface="+mn-ea"/>
                          <a:cs typeface="+mn-cs"/>
                        </a:rPr>
                        <a:t>Diego L. </a:t>
                      </a:r>
                      <a:r>
                        <a:rPr lang="en-IN" sz="1800" kern="1200" dirty="0" err="1">
                          <a:solidFill>
                            <a:schemeClr val="dk1"/>
                          </a:solidFill>
                          <a:effectLst/>
                          <a:latin typeface="+mn-lt"/>
                          <a:ea typeface="+mn-ea"/>
                          <a:cs typeface="+mn-cs"/>
                        </a:rPr>
                        <a:t>Guarín</a:t>
                      </a:r>
                      <a:r>
                        <a:rPr lang="en-IN" sz="1800" kern="1200" dirty="0">
                          <a:solidFill>
                            <a:schemeClr val="dk1"/>
                          </a:solidFill>
                          <a:effectLst/>
                          <a:latin typeface="+mn-lt"/>
                          <a:ea typeface="+mn-ea"/>
                          <a:cs typeface="+mn-cs"/>
                        </a:rPr>
                        <a:t>, Joshua K. </a:t>
                      </a:r>
                    </a:p>
                    <a:p>
                      <a:r>
                        <a:rPr lang="en-IN" sz="1800" kern="1200" dirty="0">
                          <a:solidFill>
                            <a:schemeClr val="dk1"/>
                          </a:solidFill>
                          <a:effectLst/>
                          <a:latin typeface="+mn-lt"/>
                          <a:ea typeface="+mn-ea"/>
                          <a:cs typeface="+mn-cs"/>
                        </a:rPr>
                        <a:t>Wong, Nikolaus R. </a:t>
                      </a:r>
                    </a:p>
                    <a:p>
                      <a:r>
                        <a:rPr lang="en-IN" sz="1800" kern="1200" dirty="0">
                          <a:solidFill>
                            <a:schemeClr val="dk1"/>
                          </a:solidFill>
                          <a:effectLst/>
                          <a:latin typeface="+mn-lt"/>
                          <a:ea typeface="+mn-ea"/>
                          <a:cs typeface="+mn-cs"/>
                        </a:rPr>
                        <a:t>McFarland, Adolfo </a:t>
                      </a:r>
                    </a:p>
                    <a:p>
                      <a:r>
                        <a:rPr lang="en-IN" sz="1800" kern="1200" dirty="0">
                          <a:solidFill>
                            <a:schemeClr val="dk1"/>
                          </a:solidFill>
                          <a:effectLst/>
                          <a:latin typeface="+mn-lt"/>
                          <a:ea typeface="+mn-ea"/>
                          <a:cs typeface="+mn-cs"/>
                        </a:rPr>
                        <a:t>Ramirez-Zamora </a:t>
                      </a:r>
                      <a:endParaRPr lang="en-IN" dirty="0"/>
                    </a:p>
                  </a:txBody>
                  <a:tcPr/>
                </a:tc>
                <a:tc>
                  <a:txBody>
                    <a:bodyPr/>
                    <a:lstStyle/>
                    <a:p>
                      <a:r>
                        <a:rPr lang="en-IN" sz="1800" b="1" kern="1200" dirty="0">
                          <a:solidFill>
                            <a:schemeClr val="dk1"/>
                          </a:solidFill>
                          <a:effectLst/>
                          <a:latin typeface="+mn-lt"/>
                          <a:ea typeface="+mn-ea"/>
                          <a:cs typeface="+mn-cs"/>
                        </a:rPr>
                        <a:t>2024</a:t>
                      </a:r>
                      <a:r>
                        <a:rPr lang="en-IN" sz="1800" kern="1200" dirty="0">
                          <a:solidFill>
                            <a:schemeClr val="dk1"/>
                          </a:solidFill>
                          <a:effectLst/>
                          <a:latin typeface="+mn-lt"/>
                          <a:ea typeface="+mn-ea"/>
                          <a:cs typeface="+mn-cs"/>
                        </a:rPr>
                        <a:t>, IEEE Transactions</a:t>
                      </a:r>
                    </a:p>
                    <a:p>
                      <a:r>
                        <a:rPr lang="en-IN" sz="1800" kern="1200" dirty="0">
                          <a:solidFill>
                            <a:schemeClr val="dk1"/>
                          </a:solidFill>
                          <a:effectLst/>
                          <a:latin typeface="+mn-lt"/>
                          <a:ea typeface="+mn-ea"/>
                          <a:cs typeface="+mn-cs"/>
                        </a:rPr>
                        <a:t>on (NSRE) </a:t>
                      </a:r>
                      <a:endParaRPr lang="en-IN" dirty="0"/>
                    </a:p>
                  </a:txBody>
                  <a:tcPr/>
                </a:tc>
                <a:tc>
                  <a:txBody>
                    <a:bodyPr/>
                    <a:lstStyle/>
                    <a:p>
                      <a:r>
                        <a:rPr lang="en-IN" sz="1800" kern="1200" dirty="0">
                          <a:solidFill>
                            <a:schemeClr val="dk1"/>
                          </a:solidFill>
                          <a:effectLst/>
                          <a:latin typeface="+mn-lt"/>
                          <a:ea typeface="+mn-ea"/>
                          <a:cs typeface="+mn-cs"/>
                        </a:rPr>
                        <a:t>Developed an </a:t>
                      </a:r>
                      <a:r>
                        <a:rPr lang="en-IN" sz="1800" b="0" kern="1200" dirty="0">
                          <a:solidFill>
                            <a:schemeClr val="dk1"/>
                          </a:solidFill>
                          <a:effectLst/>
                          <a:latin typeface="+mn-lt"/>
                          <a:ea typeface="+mn-ea"/>
                          <a:cs typeface="+mn-cs"/>
                        </a:rPr>
                        <a:t>automated video-based assessment framework using </a:t>
                      </a:r>
                      <a:r>
                        <a:rPr lang="en-IN" sz="1800" b="0" kern="1200" dirty="0" err="1">
                          <a:solidFill>
                            <a:schemeClr val="dk1"/>
                          </a:solidFill>
                          <a:effectLst/>
                          <a:latin typeface="+mn-lt"/>
                          <a:ea typeface="+mn-ea"/>
                          <a:cs typeface="+mn-cs"/>
                        </a:rPr>
                        <a:t>markerless</a:t>
                      </a:r>
                      <a:r>
                        <a:rPr lang="en-IN" sz="1800" b="0" kern="1200" dirty="0">
                          <a:solidFill>
                            <a:schemeClr val="dk1"/>
                          </a:solidFill>
                          <a:effectLst/>
                          <a:latin typeface="+mn-lt"/>
                          <a:ea typeface="+mn-ea"/>
                          <a:cs typeface="+mn-cs"/>
                        </a:rPr>
                        <a:t> hand pose estimation (Google </a:t>
                      </a:r>
                      <a:r>
                        <a:rPr lang="en-IN" sz="1800" b="0" kern="1200" dirty="0" err="1">
                          <a:solidFill>
                            <a:schemeClr val="dk1"/>
                          </a:solidFill>
                          <a:effectLst/>
                          <a:latin typeface="+mn-lt"/>
                          <a:ea typeface="+mn-ea"/>
                          <a:cs typeface="+mn-cs"/>
                        </a:rPr>
                        <a:t>MediaPipe</a:t>
                      </a:r>
                      <a:r>
                        <a:rPr lang="en-IN" sz="1800" b="0" kern="1200" dirty="0">
                          <a:solidFill>
                            <a:schemeClr val="dk1"/>
                          </a:solidFill>
                          <a:effectLst/>
                          <a:latin typeface="+mn-lt"/>
                          <a:ea typeface="+mn-ea"/>
                          <a:cs typeface="+mn-cs"/>
                        </a:rPr>
                        <a:t>) to </a:t>
                      </a:r>
                      <a:r>
                        <a:rPr lang="en-IN" sz="1800" b="0" kern="1200" dirty="0" err="1">
                          <a:solidFill>
                            <a:schemeClr val="dk1"/>
                          </a:solidFill>
                          <a:effectLst/>
                          <a:latin typeface="+mn-lt"/>
                          <a:ea typeface="+mn-ea"/>
                          <a:cs typeface="+mn-cs"/>
                        </a:rPr>
                        <a:t>analyze</a:t>
                      </a:r>
                      <a:r>
                        <a:rPr lang="en-IN" sz="1800" b="0" kern="1200" dirty="0">
                          <a:solidFill>
                            <a:schemeClr val="dk1"/>
                          </a:solidFill>
                          <a:effectLst/>
                          <a:latin typeface="+mn-lt"/>
                          <a:ea typeface="+mn-ea"/>
                          <a:cs typeface="+mn-cs"/>
                        </a:rPr>
                        <a:t> Finger Tapping test videos from the MDSUPDRS III. </a:t>
                      </a:r>
                      <a:endParaRPr lang="en-IN" b="0" dirty="0"/>
                    </a:p>
                  </a:txBody>
                  <a:tcPr/>
                </a:tc>
                <a:tc>
                  <a:txBody>
                    <a:bodyPr/>
                    <a:lstStyle/>
                    <a:p>
                      <a:r>
                        <a:rPr lang="en-IN" sz="1800" b="0" kern="1200" dirty="0">
                          <a:solidFill>
                            <a:schemeClr val="dk1"/>
                          </a:solidFill>
                          <a:effectLst/>
                          <a:latin typeface="+mn-lt"/>
                          <a:ea typeface="+mn-ea"/>
                          <a:cs typeface="+mn-cs"/>
                        </a:rPr>
                        <a:t>Relied on single clinician severity </a:t>
                      </a:r>
                      <a:r>
                        <a:rPr lang="en-IN" sz="1800" b="0" kern="1200" dirty="0" err="1">
                          <a:solidFill>
                            <a:schemeClr val="dk1"/>
                          </a:solidFill>
                          <a:effectLst/>
                          <a:latin typeface="+mn-lt"/>
                          <a:ea typeface="+mn-ea"/>
                          <a:cs typeface="+mn-cs"/>
                        </a:rPr>
                        <a:t>ratings,which</a:t>
                      </a:r>
                      <a:r>
                        <a:rPr lang="en-IN" sz="1800" b="0" kern="1200" dirty="0">
                          <a:solidFill>
                            <a:schemeClr val="dk1"/>
                          </a:solidFill>
                          <a:effectLst/>
                          <a:latin typeface="+mn-lt"/>
                          <a:ea typeface="+mn-ea"/>
                          <a:cs typeface="+mn-cs"/>
                        </a:rPr>
                        <a:t> may introduce subjectivity. Dataset size was limited and imbalanced</a:t>
                      </a:r>
                      <a:endParaRPr lang="en-IN" b="0" dirty="0"/>
                    </a:p>
                  </a:txBody>
                  <a:tcPr/>
                </a:tc>
                <a:tc>
                  <a:txBody>
                    <a:bodyPr/>
                    <a:lstStyle/>
                    <a:p>
                      <a:r>
                        <a:rPr lang="en-IN" sz="1800" b="0" kern="1200" dirty="0">
                          <a:solidFill>
                            <a:schemeClr val="dk1"/>
                          </a:solidFill>
                          <a:effectLst/>
                          <a:latin typeface="+mn-lt"/>
                          <a:ea typeface="+mn-ea"/>
                          <a:cs typeface="+mn-cs"/>
                        </a:rPr>
                        <a:t>Future work includes collecting larger, balanced datasets, incorporating multiple clinician raters, and including de novo and late-stage PD patients.</a:t>
                      </a:r>
                      <a:endParaRPr lang="en-IN" b="0" dirty="0"/>
                    </a:p>
                  </a:txBody>
                  <a:tcPr/>
                </a:tc>
                <a:extLst>
                  <a:ext uri="{0D108BD9-81ED-4DB2-BD59-A6C34878D82A}">
                    <a16:rowId xmlns:a16="http://schemas.microsoft.com/office/drawing/2014/main" val="2934505022"/>
                  </a:ext>
                </a:extLst>
              </a:tr>
              <a:tr h="1414120">
                <a:tc>
                  <a:txBody>
                    <a:bodyPr/>
                    <a:lstStyle/>
                    <a:p>
                      <a:r>
                        <a:rPr lang="en-IN" sz="1800" kern="1200" dirty="0">
                          <a:solidFill>
                            <a:schemeClr val="dk1"/>
                          </a:solidFill>
                          <a:effectLst/>
                          <a:latin typeface="+mn-lt"/>
                          <a:ea typeface="+mn-ea"/>
                          <a:cs typeface="+mn-cs"/>
                        </a:rPr>
                        <a:t>2. </a:t>
                      </a:r>
                      <a:endParaRPr lang="en-IN" dirty="0"/>
                    </a:p>
                  </a:txBody>
                  <a:tcPr/>
                </a:tc>
                <a:tc>
                  <a:txBody>
                    <a:bodyPr/>
                    <a:lstStyle/>
                    <a:p>
                      <a:pPr>
                        <a:lnSpc>
                          <a:spcPct val="98000"/>
                        </a:lnSpc>
                        <a:spcAft>
                          <a:spcPts val="10"/>
                        </a:spcAft>
                        <a:buNone/>
                      </a:pPr>
                      <a:r>
                        <a:rPr lang="en-IN" sz="1800" kern="100" dirty="0">
                          <a:solidFill>
                            <a:srgbClr val="000000"/>
                          </a:solidFill>
                          <a:effectLst/>
                          <a:latin typeface="+mn-lt"/>
                          <a:ea typeface="Times New Roman" panose="02020603050405020304" pitchFamily="18" charset="0"/>
                        </a:rPr>
                        <a:t>Early Detection of Parkinson’s Disease Using Deep </a:t>
                      </a:r>
                      <a:r>
                        <a:rPr lang="en-IN" sz="1800" kern="100" dirty="0" err="1">
                          <a:solidFill>
                            <a:srgbClr val="000000"/>
                          </a:solidFill>
                          <a:effectLst/>
                          <a:latin typeface="+mn-lt"/>
                          <a:ea typeface="Times New Roman" panose="02020603050405020304" pitchFamily="18" charset="0"/>
                        </a:rPr>
                        <a:t>NeuroEnhanceNet</a:t>
                      </a:r>
                      <a:r>
                        <a:rPr lang="en-IN" sz="1800" kern="100" dirty="0">
                          <a:solidFill>
                            <a:srgbClr val="000000"/>
                          </a:solidFill>
                          <a:effectLst/>
                          <a:latin typeface="+mn-lt"/>
                          <a:ea typeface="Times New Roman" panose="02020603050405020304" pitchFamily="18" charset="0"/>
                        </a:rPr>
                        <a:t> With Smartphone Walking Recordings </a:t>
                      </a:r>
                      <a:endParaRPr lang="en-IN" sz="1800" kern="100" dirty="0">
                        <a:solidFill>
                          <a:srgbClr val="000000"/>
                        </a:solidFill>
                        <a:effectLst/>
                        <a:latin typeface="+mn-lt"/>
                        <a:ea typeface="Calibri" panose="020F0502020204030204" pitchFamily="34" charset="0"/>
                      </a:endParaRPr>
                    </a:p>
                  </a:txBody>
                  <a:tcPr marL="68580" marR="25400" marB="0"/>
                </a:tc>
                <a:tc>
                  <a:txBody>
                    <a:bodyPr/>
                    <a:lstStyle/>
                    <a:p>
                      <a:r>
                        <a:rPr lang="en-IN" sz="1800" kern="1200" dirty="0" err="1">
                          <a:solidFill>
                            <a:schemeClr val="dk1"/>
                          </a:solidFill>
                          <a:effectLst/>
                          <a:latin typeface="+mn-lt"/>
                          <a:ea typeface="+mn-ea"/>
                          <a:cs typeface="+mn-cs"/>
                        </a:rPr>
                        <a:t>Tongyue</a:t>
                      </a:r>
                      <a:r>
                        <a:rPr lang="en-IN" sz="1800" kern="1200" dirty="0">
                          <a:solidFill>
                            <a:schemeClr val="dk1"/>
                          </a:solidFill>
                          <a:effectLst/>
                          <a:latin typeface="+mn-lt"/>
                          <a:ea typeface="+mn-ea"/>
                          <a:cs typeface="+mn-cs"/>
                        </a:rPr>
                        <a:t> He, </a:t>
                      </a:r>
                      <a:r>
                        <a:rPr lang="en-IN" sz="1800" kern="1200" dirty="0" err="1">
                          <a:solidFill>
                            <a:schemeClr val="dk1"/>
                          </a:solidFill>
                          <a:effectLst/>
                          <a:latin typeface="+mn-lt"/>
                          <a:ea typeface="+mn-ea"/>
                          <a:cs typeface="+mn-cs"/>
                        </a:rPr>
                        <a:t>Junxin</a:t>
                      </a:r>
                      <a:r>
                        <a:rPr lang="en-IN" sz="1800" kern="1200" dirty="0">
                          <a:solidFill>
                            <a:schemeClr val="dk1"/>
                          </a:solidFill>
                          <a:effectLst/>
                          <a:latin typeface="+mn-lt"/>
                          <a:ea typeface="+mn-ea"/>
                          <a:cs typeface="+mn-cs"/>
                        </a:rPr>
                        <a:t> Chen, Xu </a:t>
                      </a:r>
                      <a:r>
                        <a:rPr lang="en-IN" sz="1800" kern="1200" dirty="0" err="1">
                          <a:solidFill>
                            <a:schemeClr val="dk1"/>
                          </a:solidFill>
                          <a:effectLst/>
                          <a:latin typeface="+mn-lt"/>
                          <a:ea typeface="+mn-ea"/>
                          <a:cs typeface="+mn-cs"/>
                        </a:rPr>
                        <a:t>Xu</a:t>
                      </a:r>
                      <a:r>
                        <a:rPr lang="en-IN" sz="1800" kern="1200" dirty="0">
                          <a:solidFill>
                            <a:schemeClr val="dk1"/>
                          </a:solidFill>
                          <a:effectLst/>
                          <a:latin typeface="+mn-lt"/>
                          <a:ea typeface="+mn-ea"/>
                          <a:cs typeface="+mn-cs"/>
                        </a:rPr>
                        <a:t>, Giancarlo Fortino, Wei Wang </a:t>
                      </a:r>
                      <a:endParaRPr lang="en-IN" dirty="0"/>
                    </a:p>
                  </a:txBody>
                  <a:tcPr/>
                </a:tc>
                <a:tc>
                  <a:txBody>
                    <a:bodyPr/>
                    <a:lstStyle/>
                    <a:p>
                      <a:r>
                        <a:rPr lang="en-IN" sz="1800" b="1" kern="1200" dirty="0">
                          <a:solidFill>
                            <a:schemeClr val="dk1"/>
                          </a:solidFill>
                          <a:effectLst/>
                          <a:latin typeface="+mn-lt"/>
                          <a:ea typeface="+mn-ea"/>
                          <a:cs typeface="+mn-cs"/>
                        </a:rPr>
                        <a:t>2024</a:t>
                      </a:r>
                      <a:r>
                        <a:rPr lang="en-IN" sz="1800" kern="1200" dirty="0">
                          <a:solidFill>
                            <a:schemeClr val="dk1"/>
                          </a:solidFill>
                          <a:effectLst/>
                          <a:latin typeface="+mn-lt"/>
                          <a:ea typeface="+mn-ea"/>
                          <a:cs typeface="+mn-cs"/>
                        </a:rPr>
                        <a:t>, IEEE Transactions </a:t>
                      </a:r>
                    </a:p>
                    <a:p>
                      <a:r>
                        <a:rPr lang="en-IN" sz="1800" kern="1200" dirty="0">
                          <a:solidFill>
                            <a:schemeClr val="dk1"/>
                          </a:solidFill>
                          <a:effectLst/>
                          <a:latin typeface="+mn-lt"/>
                          <a:ea typeface="+mn-ea"/>
                          <a:cs typeface="+mn-cs"/>
                        </a:rPr>
                        <a:t>on  (NSRE) </a:t>
                      </a:r>
                    </a:p>
                    <a:p>
                      <a:endParaRPr lang="en-IN" dirty="0"/>
                    </a:p>
                  </a:txBody>
                  <a:tcPr/>
                </a:tc>
                <a:tc>
                  <a:txBody>
                    <a:bodyPr/>
                    <a:lstStyle/>
                    <a:p>
                      <a:r>
                        <a:rPr lang="en-IN" sz="1800" b="0" kern="1200" dirty="0">
                          <a:solidFill>
                            <a:schemeClr val="dk1"/>
                          </a:solidFill>
                          <a:effectLst/>
                          <a:latin typeface="+mn-lt"/>
                          <a:ea typeface="+mn-ea"/>
                          <a:cs typeface="+mn-cs"/>
                        </a:rPr>
                        <a:t>Proposed Deep Neuro Enhance Net, a CNN-based architecture with Residual Blocks, Multi-head Attention, and SE blocks </a:t>
                      </a:r>
                      <a:endParaRPr lang="en-IN" b="0" dirty="0"/>
                    </a:p>
                  </a:txBody>
                  <a:tcPr/>
                </a:tc>
                <a:tc>
                  <a:txBody>
                    <a:bodyPr/>
                    <a:lstStyle/>
                    <a:p>
                      <a:r>
                        <a:rPr lang="en-IN" sz="1800" b="0" kern="1200" dirty="0">
                          <a:solidFill>
                            <a:schemeClr val="dk1"/>
                          </a:solidFill>
                          <a:effectLst/>
                          <a:latin typeface="+mn-lt"/>
                          <a:ea typeface="+mn-ea"/>
                          <a:cs typeface="+mn-cs"/>
                        </a:rPr>
                        <a:t>Cannot grade or assess PD severity, only performs binary early detection. </a:t>
                      </a:r>
                      <a:endParaRPr lang="en-IN" b="0" dirty="0"/>
                    </a:p>
                  </a:txBody>
                  <a:tcPr/>
                </a:tc>
                <a:tc>
                  <a:txBody>
                    <a:bodyPr/>
                    <a:lstStyle/>
                    <a:p>
                      <a:r>
                        <a:rPr lang="en-IN" sz="1800" b="0" kern="1200" dirty="0">
                          <a:solidFill>
                            <a:schemeClr val="dk1"/>
                          </a:solidFill>
                          <a:effectLst/>
                          <a:latin typeface="+mn-lt"/>
                          <a:ea typeface="+mn-ea"/>
                          <a:cs typeface="+mn-cs"/>
                        </a:rPr>
                        <a:t>Future work includes extending analysis to severity assessment and symptom tracking, especially using rests </a:t>
                      </a:r>
                      <a:r>
                        <a:rPr lang="en-IN" sz="1800" b="0" kern="1200" dirty="0" err="1">
                          <a:solidFill>
                            <a:schemeClr val="dk1"/>
                          </a:solidFill>
                          <a:effectLst/>
                          <a:latin typeface="+mn-lt"/>
                          <a:ea typeface="+mn-ea"/>
                          <a:cs typeface="+mn-cs"/>
                        </a:rPr>
                        <a:t>tage</a:t>
                      </a:r>
                      <a:r>
                        <a:rPr lang="en-IN" sz="1800" b="0" kern="1200" dirty="0">
                          <a:solidFill>
                            <a:schemeClr val="dk1"/>
                          </a:solidFill>
                          <a:effectLst/>
                          <a:latin typeface="+mn-lt"/>
                          <a:ea typeface="+mn-ea"/>
                          <a:cs typeface="+mn-cs"/>
                        </a:rPr>
                        <a:t> data. </a:t>
                      </a:r>
                      <a:endParaRPr lang="en-IN" b="0" dirty="0"/>
                    </a:p>
                  </a:txBody>
                  <a:tcPr/>
                </a:tc>
                <a:extLst>
                  <a:ext uri="{0D108BD9-81ED-4DB2-BD59-A6C34878D82A}">
                    <a16:rowId xmlns:a16="http://schemas.microsoft.com/office/drawing/2014/main" val="3214233797"/>
                  </a:ext>
                </a:extLst>
              </a:tr>
              <a:tr h="1679267">
                <a:tc>
                  <a:txBody>
                    <a:bodyPr/>
                    <a:lstStyle/>
                    <a:p>
                      <a:r>
                        <a:rPr lang="en-IN" dirty="0"/>
                        <a:t>3.</a:t>
                      </a:r>
                    </a:p>
                  </a:txBody>
                  <a:tcPr/>
                </a:tc>
                <a:tc>
                  <a:txBody>
                    <a:bodyPr/>
                    <a:lstStyle/>
                    <a:p>
                      <a:r>
                        <a:rPr lang="en-IN" sz="1800" kern="1200" dirty="0">
                          <a:solidFill>
                            <a:schemeClr val="dk1"/>
                          </a:solidFill>
                          <a:effectLst/>
                          <a:latin typeface="+mn-lt"/>
                          <a:ea typeface="+mn-ea"/>
                          <a:cs typeface="+mn-cs"/>
                        </a:rPr>
                        <a:t>Detection of Early </a:t>
                      </a:r>
                    </a:p>
                    <a:p>
                      <a:r>
                        <a:rPr lang="en-IN" sz="1800" kern="1200" dirty="0">
                          <a:solidFill>
                            <a:schemeClr val="dk1"/>
                          </a:solidFill>
                          <a:effectLst/>
                          <a:latin typeface="+mn-lt"/>
                          <a:ea typeface="+mn-ea"/>
                          <a:cs typeface="+mn-cs"/>
                        </a:rPr>
                        <a:t>Parkinson’s Disease by </a:t>
                      </a:r>
                    </a:p>
                    <a:p>
                      <a:r>
                        <a:rPr lang="en-IN" sz="1800" kern="1200" dirty="0">
                          <a:solidFill>
                            <a:schemeClr val="dk1"/>
                          </a:solidFill>
                          <a:effectLst/>
                          <a:latin typeface="+mn-lt"/>
                          <a:ea typeface="+mn-ea"/>
                          <a:cs typeface="+mn-cs"/>
                        </a:rPr>
                        <a:t>Leveraging Speech </a:t>
                      </a:r>
                    </a:p>
                    <a:p>
                      <a:r>
                        <a:rPr lang="en-IN" sz="1800" kern="1200" dirty="0">
                          <a:solidFill>
                            <a:schemeClr val="dk1"/>
                          </a:solidFill>
                          <a:effectLst/>
                          <a:latin typeface="+mn-lt"/>
                          <a:ea typeface="+mn-ea"/>
                          <a:cs typeface="+mn-cs"/>
                        </a:rPr>
                        <a:t>Foundation Models </a:t>
                      </a:r>
                      <a:endParaRPr lang="en-IN" dirty="0"/>
                    </a:p>
                  </a:txBody>
                  <a:tcPr/>
                </a:tc>
                <a:tc>
                  <a:txBody>
                    <a:bodyPr/>
                    <a:lstStyle/>
                    <a:p>
                      <a:r>
                        <a:rPr lang="en-IN" sz="1800" kern="1200" dirty="0">
                          <a:solidFill>
                            <a:schemeClr val="dk1"/>
                          </a:solidFill>
                          <a:effectLst/>
                          <a:latin typeface="+mn-lt"/>
                          <a:ea typeface="+mn-ea"/>
                          <a:cs typeface="+mn-cs"/>
                        </a:rPr>
                        <a:t>Quang Dao, Laetitia </a:t>
                      </a:r>
                    </a:p>
                    <a:p>
                      <a:r>
                        <a:rPr lang="en-IN" sz="1800" kern="1200" dirty="0" err="1">
                          <a:solidFill>
                            <a:schemeClr val="dk1"/>
                          </a:solidFill>
                          <a:effectLst/>
                          <a:latin typeface="+mn-lt"/>
                          <a:ea typeface="+mn-ea"/>
                          <a:cs typeface="+mn-cs"/>
                        </a:rPr>
                        <a:t>Jeancolas</a:t>
                      </a:r>
                      <a:r>
                        <a:rPr lang="en-IN" sz="1800" kern="1200" dirty="0">
                          <a:solidFill>
                            <a:schemeClr val="dk1"/>
                          </a:solidFill>
                          <a:effectLst/>
                          <a:latin typeface="+mn-lt"/>
                          <a:ea typeface="+mn-ea"/>
                          <a:cs typeface="+mn-cs"/>
                        </a:rPr>
                        <a:t>, Graziella </a:t>
                      </a:r>
                    </a:p>
                    <a:p>
                      <a:r>
                        <a:rPr lang="en-IN" sz="1800" kern="1200" dirty="0">
                          <a:solidFill>
                            <a:schemeClr val="dk1"/>
                          </a:solidFill>
                          <a:effectLst/>
                          <a:latin typeface="+mn-lt"/>
                          <a:ea typeface="+mn-ea"/>
                          <a:cs typeface="+mn-cs"/>
                        </a:rPr>
                        <a:t>Mangone, Sara </a:t>
                      </a:r>
                      <a:r>
                        <a:rPr lang="en-IN" sz="1800" kern="1200" dirty="0" err="1">
                          <a:solidFill>
                            <a:schemeClr val="dk1"/>
                          </a:solidFill>
                          <a:effectLst/>
                          <a:latin typeface="+mn-lt"/>
                          <a:ea typeface="+mn-ea"/>
                          <a:cs typeface="+mn-cs"/>
                        </a:rPr>
                        <a:t>Sambin</a:t>
                      </a:r>
                      <a:r>
                        <a:rPr lang="en-IN" sz="1800" kern="1200" dirty="0">
                          <a:solidFill>
                            <a:schemeClr val="dk1"/>
                          </a:solidFill>
                          <a:effectLst/>
                          <a:latin typeface="+mn-lt"/>
                          <a:ea typeface="+mn-ea"/>
                          <a:cs typeface="+mn-cs"/>
                        </a:rPr>
                        <a:t>, Alizé </a:t>
                      </a:r>
                      <a:r>
                        <a:rPr lang="en-IN" sz="1800" kern="1200" dirty="0" err="1">
                          <a:solidFill>
                            <a:schemeClr val="dk1"/>
                          </a:solidFill>
                          <a:effectLst/>
                          <a:latin typeface="+mn-lt"/>
                          <a:ea typeface="+mn-ea"/>
                          <a:cs typeface="+mn-cs"/>
                        </a:rPr>
                        <a:t>Chalançon</a:t>
                      </a:r>
                      <a:r>
                        <a:rPr lang="en-IN" sz="1800" kern="1200" dirty="0">
                          <a:solidFill>
                            <a:schemeClr val="dk1"/>
                          </a:solidFill>
                          <a:effectLst/>
                          <a:latin typeface="+mn-lt"/>
                          <a:ea typeface="+mn-ea"/>
                          <a:cs typeface="+mn-cs"/>
                        </a:rPr>
                        <a:t>, </a:t>
                      </a:r>
                    </a:p>
                    <a:p>
                      <a:endParaRPr lang="en-IN" dirty="0"/>
                    </a:p>
                  </a:txBody>
                  <a:tcPr/>
                </a:tc>
                <a:tc>
                  <a:txBody>
                    <a:bodyPr/>
                    <a:lstStyle/>
                    <a:p>
                      <a:r>
                        <a:rPr lang="en-IN" sz="1800" b="1" kern="1200" dirty="0">
                          <a:solidFill>
                            <a:schemeClr val="dk1"/>
                          </a:solidFill>
                          <a:effectLst/>
                          <a:latin typeface="+mn-lt"/>
                          <a:ea typeface="+mn-ea"/>
                          <a:cs typeface="+mn-cs"/>
                        </a:rPr>
                        <a:t>2025</a:t>
                      </a:r>
                      <a:r>
                        <a:rPr lang="en-IN" sz="1800" kern="1200" dirty="0">
                          <a:solidFill>
                            <a:schemeClr val="dk1"/>
                          </a:solidFill>
                          <a:effectLst/>
                          <a:latin typeface="+mn-lt"/>
                          <a:ea typeface="+mn-ea"/>
                          <a:cs typeface="+mn-cs"/>
                        </a:rPr>
                        <a:t>, IEEE  (JBHI), </a:t>
                      </a:r>
                      <a:endParaRPr lang="en-IN" dirty="0"/>
                    </a:p>
                  </a:txBody>
                  <a:tcPr/>
                </a:tc>
                <a:tc>
                  <a:txBody>
                    <a:bodyPr/>
                    <a:lstStyle/>
                    <a:p>
                      <a:r>
                        <a:rPr lang="en-IN" sz="1800" b="0" kern="1200" dirty="0">
                          <a:solidFill>
                            <a:schemeClr val="dk1"/>
                          </a:solidFill>
                          <a:effectLst/>
                          <a:latin typeface="+mn-lt"/>
                          <a:ea typeface="+mn-ea"/>
                          <a:cs typeface="+mn-cs"/>
                        </a:rPr>
                        <a:t>Investigated three speech foundation models— wav2vec2.0, Whisper, and SeamlessM4T—for </a:t>
                      </a:r>
                    </a:p>
                    <a:p>
                      <a:r>
                        <a:rPr lang="en-IN" sz="1800" b="0" kern="1200" dirty="0">
                          <a:solidFill>
                            <a:schemeClr val="dk1"/>
                          </a:solidFill>
                          <a:effectLst/>
                          <a:latin typeface="+mn-lt"/>
                          <a:ea typeface="+mn-ea"/>
                          <a:cs typeface="+mn-cs"/>
                        </a:rPr>
                        <a:t>early PD detection using voice recordings </a:t>
                      </a:r>
                      <a:endParaRPr lang="en-IN" b="0" dirty="0"/>
                    </a:p>
                  </a:txBody>
                  <a:tcPr/>
                </a:tc>
                <a:tc>
                  <a:txBody>
                    <a:bodyPr/>
                    <a:lstStyle/>
                    <a:p>
                      <a:r>
                        <a:rPr lang="en-IN" sz="1800" b="0" kern="1200" dirty="0">
                          <a:solidFill>
                            <a:schemeClr val="dk1"/>
                          </a:solidFill>
                          <a:effectLst/>
                          <a:latin typeface="+mn-lt"/>
                          <a:ea typeface="+mn-ea"/>
                          <a:cs typeface="+mn-cs"/>
                        </a:rPr>
                        <a:t>Dataset focuses mainly on early-stage PD. Gender imbalance affects performance, with lower accuracy for females. </a:t>
                      </a:r>
                      <a:endParaRPr lang="en-IN" b="0" dirty="0"/>
                    </a:p>
                  </a:txBody>
                  <a:tcPr/>
                </a:tc>
                <a:tc>
                  <a:txBody>
                    <a:bodyPr/>
                    <a:lstStyle/>
                    <a:p>
                      <a:r>
                        <a:rPr lang="en-IN" sz="1800" kern="1200" dirty="0">
                          <a:solidFill>
                            <a:schemeClr val="dk1"/>
                          </a:solidFill>
                          <a:effectLst/>
                          <a:latin typeface="+mn-lt"/>
                          <a:ea typeface="+mn-ea"/>
                          <a:cs typeface="+mn-cs"/>
                        </a:rPr>
                        <a:t>Future work includes</a:t>
                      </a:r>
                    </a:p>
                    <a:p>
                      <a:r>
                        <a:rPr lang="en-IN" sz="1800" kern="1200" dirty="0">
                          <a:solidFill>
                            <a:schemeClr val="dk1"/>
                          </a:solidFill>
                          <a:effectLst/>
                          <a:latin typeface="+mn-lt"/>
                          <a:ea typeface="+mn-ea"/>
                          <a:cs typeface="+mn-cs"/>
                        </a:rPr>
                        <a:t>adapting models to </a:t>
                      </a:r>
                      <a:r>
                        <a:rPr lang="en-IN" sz="1800" b="0" kern="1200" dirty="0">
                          <a:solidFill>
                            <a:schemeClr val="dk1"/>
                          </a:solidFill>
                          <a:effectLst/>
                          <a:latin typeface="+mn-lt"/>
                          <a:ea typeface="+mn-ea"/>
                          <a:cs typeface="+mn-cs"/>
                        </a:rPr>
                        <a:t>noisier real world conditions (telephone and home recordings) using noise robust </a:t>
                      </a:r>
                      <a:endParaRPr lang="en-IN" b="0" dirty="0"/>
                    </a:p>
                  </a:txBody>
                  <a:tcPr/>
                </a:tc>
                <a:extLst>
                  <a:ext uri="{0D108BD9-81ED-4DB2-BD59-A6C34878D82A}">
                    <a16:rowId xmlns:a16="http://schemas.microsoft.com/office/drawing/2014/main" val="823262931"/>
                  </a:ext>
                </a:extLst>
              </a:tr>
              <a:tr h="1944415">
                <a:tc>
                  <a:txBody>
                    <a:bodyPr/>
                    <a:lstStyle/>
                    <a:p>
                      <a:r>
                        <a:rPr lang="en-IN" dirty="0"/>
                        <a:t>4.</a:t>
                      </a:r>
                    </a:p>
                  </a:txBody>
                  <a:tcPr/>
                </a:tc>
                <a:tc>
                  <a:txBody>
                    <a:bodyPr/>
                    <a:lstStyle/>
                    <a:p>
                      <a:r>
                        <a:rPr lang="en-IN" sz="1800" kern="1200" dirty="0">
                          <a:solidFill>
                            <a:schemeClr val="dk1"/>
                          </a:solidFill>
                          <a:effectLst/>
                          <a:latin typeface="+mn-lt"/>
                          <a:ea typeface="+mn-ea"/>
                          <a:cs typeface="+mn-cs"/>
                        </a:rPr>
                        <a:t>Multimodal Deep Learning Framework for Customizable and </a:t>
                      </a:r>
                    </a:p>
                    <a:p>
                      <a:r>
                        <a:rPr lang="en-IN" sz="1800" kern="1200" dirty="0">
                          <a:solidFill>
                            <a:schemeClr val="dk1"/>
                          </a:solidFill>
                          <a:effectLst/>
                          <a:latin typeface="+mn-lt"/>
                          <a:ea typeface="+mn-ea"/>
                          <a:cs typeface="+mn-cs"/>
                        </a:rPr>
                        <a:t>Interpretable Parkinson’s </a:t>
                      </a:r>
                    </a:p>
                    <a:p>
                      <a:r>
                        <a:rPr lang="en-IN" sz="1800" kern="1200" dirty="0">
                          <a:solidFill>
                            <a:schemeClr val="dk1"/>
                          </a:solidFill>
                          <a:effectLst/>
                          <a:latin typeface="+mn-lt"/>
                          <a:ea typeface="+mn-ea"/>
                          <a:cs typeface="+mn-cs"/>
                        </a:rPr>
                        <a:t>Disease Detection </a:t>
                      </a:r>
                      <a:endParaRPr lang="en-IN" dirty="0"/>
                    </a:p>
                  </a:txBody>
                  <a:tcPr/>
                </a:tc>
                <a:tc>
                  <a:txBody>
                    <a:bodyPr/>
                    <a:lstStyle/>
                    <a:p>
                      <a:r>
                        <a:rPr lang="en-IN" sz="1800" kern="1200" dirty="0">
                          <a:solidFill>
                            <a:schemeClr val="dk1"/>
                          </a:solidFill>
                          <a:effectLst/>
                          <a:latin typeface="+mn-lt"/>
                          <a:ea typeface="+mn-ea"/>
                          <a:cs typeface="+mn-cs"/>
                        </a:rPr>
                        <a:t>Mitesh Kothari, </a:t>
                      </a:r>
                    </a:p>
                    <a:p>
                      <a:r>
                        <a:rPr lang="en-IN" sz="1800" kern="1200" dirty="0">
                          <a:solidFill>
                            <a:schemeClr val="dk1"/>
                          </a:solidFill>
                          <a:effectLst/>
                          <a:latin typeface="+mn-lt"/>
                          <a:ea typeface="+mn-ea"/>
                          <a:cs typeface="+mn-cs"/>
                        </a:rPr>
                        <a:t>Ganeshan </a:t>
                      </a:r>
                      <a:r>
                        <a:rPr lang="en-IN" sz="1800" kern="1200" dirty="0" err="1">
                          <a:solidFill>
                            <a:schemeClr val="dk1"/>
                          </a:solidFill>
                          <a:effectLst/>
                          <a:latin typeface="+mn-lt"/>
                          <a:ea typeface="+mn-ea"/>
                          <a:cs typeface="+mn-cs"/>
                        </a:rPr>
                        <a:t>Arumuganain</a:t>
                      </a:r>
                      <a:endParaRPr lang="en-IN" sz="1800" kern="1200" dirty="0">
                        <a:solidFill>
                          <a:schemeClr val="dk1"/>
                        </a:solidFill>
                        <a:effectLst/>
                        <a:latin typeface="+mn-lt"/>
                        <a:ea typeface="+mn-ea"/>
                        <a:cs typeface="+mn-cs"/>
                      </a:endParaRPr>
                    </a:p>
                    <a:p>
                      <a:r>
                        <a:rPr lang="en-IN" sz="1800" kern="1200" dirty="0" err="1">
                          <a:solidFill>
                            <a:schemeClr val="dk1"/>
                          </a:solidFill>
                          <a:effectLst/>
                          <a:latin typeface="+mn-lt"/>
                          <a:ea typeface="+mn-ea"/>
                          <a:cs typeface="+mn-cs"/>
                        </a:rPr>
                        <a:t>ar</a:t>
                      </a:r>
                      <a:r>
                        <a:rPr lang="en-IN" sz="1800" kern="1200" dirty="0">
                          <a:solidFill>
                            <a:schemeClr val="dk1"/>
                          </a:solidFill>
                          <a:effectLst/>
                          <a:latin typeface="+mn-lt"/>
                          <a:ea typeface="+mn-ea"/>
                          <a:cs typeface="+mn-cs"/>
                        </a:rPr>
                        <a:t>, Kaliraj Konar </a:t>
                      </a:r>
                      <a:endParaRPr lang="en-IN" dirty="0"/>
                    </a:p>
                  </a:txBody>
                  <a:tcPr/>
                </a:tc>
                <a:tc>
                  <a:txBody>
                    <a:bodyPr/>
                    <a:lstStyle/>
                    <a:p>
                      <a:r>
                        <a:rPr lang="en-IN" sz="1800" kern="1200" dirty="0">
                          <a:solidFill>
                            <a:schemeClr val="dk1"/>
                          </a:solidFill>
                          <a:effectLst/>
                          <a:latin typeface="+mn-lt"/>
                          <a:ea typeface="+mn-ea"/>
                          <a:cs typeface="+mn-cs"/>
                        </a:rPr>
                        <a:t>2025 / </a:t>
                      </a:r>
                    </a:p>
                    <a:p>
                      <a:r>
                        <a:rPr lang="en-IN" sz="1800" kern="1200" dirty="0">
                          <a:solidFill>
                            <a:schemeClr val="dk1"/>
                          </a:solidFill>
                          <a:effectLst/>
                          <a:latin typeface="+mn-lt"/>
                          <a:ea typeface="+mn-ea"/>
                          <a:cs typeface="+mn-cs"/>
                        </a:rPr>
                        <a:t>Preprint – Industry </a:t>
                      </a:r>
                    </a:p>
                    <a:p>
                      <a:r>
                        <a:rPr lang="en-IN" sz="1800" kern="1200" dirty="0">
                          <a:solidFill>
                            <a:schemeClr val="dk1"/>
                          </a:solidFill>
                          <a:effectLst/>
                          <a:latin typeface="+mn-lt"/>
                          <a:ea typeface="+mn-ea"/>
                          <a:cs typeface="+mn-cs"/>
                        </a:rPr>
                        <a:t>Research</a:t>
                      </a:r>
                    </a:p>
                  </a:txBody>
                  <a:tcPr/>
                </a:tc>
                <a:tc>
                  <a:txBody>
                    <a:bodyPr/>
                    <a:lstStyle/>
                    <a:p>
                      <a:r>
                        <a:rPr lang="en-IN" sz="1800" b="0" kern="1200" dirty="0">
                          <a:solidFill>
                            <a:schemeClr val="dk1"/>
                          </a:solidFill>
                          <a:effectLst/>
                          <a:latin typeface="+mn-lt"/>
                          <a:ea typeface="+mn-ea"/>
                          <a:cs typeface="+mn-cs"/>
                        </a:rPr>
                        <a:t>Proposed a multimodal ML &amp; DL framework integrating Voice (Random Forest), Handwriting Signals </a:t>
                      </a:r>
                    </a:p>
                    <a:p>
                      <a:r>
                        <a:rPr lang="en-IN" sz="1800" b="0" kern="1200" dirty="0">
                          <a:solidFill>
                            <a:schemeClr val="dk1"/>
                          </a:solidFill>
                          <a:effectLst/>
                          <a:latin typeface="+mn-lt"/>
                          <a:ea typeface="+mn-ea"/>
                          <a:cs typeface="+mn-cs"/>
                        </a:rPr>
                        <a:t>(</a:t>
                      </a:r>
                      <a:r>
                        <a:rPr lang="en-IN" sz="1800" b="0" kern="1200" dirty="0" err="1">
                          <a:solidFill>
                            <a:schemeClr val="dk1"/>
                          </a:solidFill>
                          <a:effectLst/>
                          <a:latin typeface="+mn-lt"/>
                          <a:ea typeface="+mn-ea"/>
                          <a:cs typeface="+mn-cs"/>
                        </a:rPr>
                        <a:t>XGBoost</a:t>
                      </a:r>
                      <a:r>
                        <a:rPr lang="en-IN" sz="1800" b="0" kern="1200" dirty="0">
                          <a:solidFill>
                            <a:schemeClr val="dk1"/>
                          </a:solidFill>
                          <a:effectLst/>
                          <a:latin typeface="+mn-lt"/>
                          <a:ea typeface="+mn-ea"/>
                          <a:cs typeface="+mn-cs"/>
                        </a:rPr>
                        <a:t>), (ResNet-18), Gait VGRF (Transformer Encoder), and Non-Motor Symptoms (Random Forest). </a:t>
                      </a:r>
                      <a:endParaRPr lang="en-IN"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Relatively small dataset sizes for </a:t>
                      </a:r>
                      <a:r>
                        <a:rPr lang="en-IN" sz="1800" b="0" kern="1200" dirty="0" err="1">
                          <a:solidFill>
                            <a:schemeClr val="dk1"/>
                          </a:solidFill>
                          <a:effectLst/>
                          <a:latin typeface="+mn-lt"/>
                          <a:ea typeface="+mn-ea"/>
                          <a:cs typeface="+mn-cs"/>
                        </a:rPr>
                        <a:t>somemodalities</a:t>
                      </a:r>
                      <a:r>
                        <a:rPr lang="en-IN" sz="1800" b="0" kern="1200" dirty="0">
                          <a:solidFill>
                            <a:schemeClr val="dk1"/>
                          </a:solidFill>
                          <a:effectLst/>
                          <a:latin typeface="+mn-lt"/>
                          <a:ea typeface="+mn-ea"/>
                          <a:cs typeface="+mn-cs"/>
                        </a:rPr>
                        <a:t> (voice, handwriting), increasing overfitting risk. Data collected in controlled clinical settings, limiting </a:t>
                      </a:r>
                      <a:r>
                        <a:rPr lang="en-IN" sz="1800" b="0" kern="1200" dirty="0" err="1">
                          <a:solidFill>
                            <a:schemeClr val="dk1"/>
                          </a:solidFill>
                          <a:effectLst/>
                          <a:latin typeface="+mn-lt"/>
                          <a:ea typeface="+mn-ea"/>
                          <a:cs typeface="+mn-cs"/>
                        </a:rPr>
                        <a:t>realworld</a:t>
                      </a:r>
                      <a:r>
                        <a:rPr lang="en-IN" sz="1800" b="0" kern="1200" dirty="0">
                          <a:solidFill>
                            <a:schemeClr val="dk1"/>
                          </a:solidFill>
                          <a:effectLst/>
                          <a:latin typeface="+mn-lt"/>
                          <a:ea typeface="+mn-ea"/>
                          <a:cs typeface="+mn-cs"/>
                        </a:rPr>
                        <a:t> robustness. </a:t>
                      </a:r>
                    </a:p>
                    <a:p>
                      <a:endParaRPr lang="en-IN" dirty="0"/>
                    </a:p>
                  </a:txBody>
                  <a:tcPr/>
                </a:tc>
                <a:tc>
                  <a:txBody>
                    <a:bodyPr/>
                    <a:lstStyle/>
                    <a:p>
                      <a:r>
                        <a:rPr lang="en-IN" sz="1800" b="0" kern="1200" dirty="0">
                          <a:solidFill>
                            <a:schemeClr val="dk1"/>
                          </a:solidFill>
                          <a:effectLst/>
                          <a:latin typeface="+mn-lt"/>
                          <a:ea typeface="+mn-ea"/>
                          <a:cs typeface="+mn-cs"/>
                        </a:rPr>
                        <a:t>Use of </a:t>
                      </a:r>
                      <a:r>
                        <a:rPr lang="en-IN" sz="1800" b="0" kern="1200" dirty="0" err="1">
                          <a:solidFill>
                            <a:schemeClr val="dk1"/>
                          </a:solidFill>
                          <a:effectLst/>
                          <a:latin typeface="+mn-lt"/>
                          <a:ea typeface="+mn-ea"/>
                          <a:cs typeface="+mn-cs"/>
                        </a:rPr>
                        <a:t>AlphaFoldbased</a:t>
                      </a:r>
                      <a:r>
                        <a:rPr lang="en-IN" sz="1800" b="0" kern="1200" dirty="0">
                          <a:solidFill>
                            <a:schemeClr val="dk1"/>
                          </a:solidFill>
                          <a:effectLst/>
                          <a:latin typeface="+mn-lt"/>
                          <a:ea typeface="+mn-ea"/>
                          <a:cs typeface="+mn-cs"/>
                        </a:rPr>
                        <a:t> protein structure prediction </a:t>
                      </a:r>
                    </a:p>
                    <a:p>
                      <a:r>
                        <a:rPr lang="en-IN" sz="1800" b="0" kern="1200" dirty="0">
                          <a:solidFill>
                            <a:schemeClr val="dk1"/>
                          </a:solidFill>
                          <a:effectLst/>
                          <a:latin typeface="+mn-lt"/>
                          <a:ea typeface="+mn-ea"/>
                          <a:cs typeface="+mn-cs"/>
                        </a:rPr>
                        <a:t>to link genotype with phenotype. </a:t>
                      </a:r>
                    </a:p>
                    <a:p>
                      <a:endParaRPr lang="en-IN" dirty="0"/>
                    </a:p>
                  </a:txBody>
                  <a:tcPr/>
                </a:tc>
                <a:extLst>
                  <a:ext uri="{0D108BD9-81ED-4DB2-BD59-A6C34878D82A}">
                    <a16:rowId xmlns:a16="http://schemas.microsoft.com/office/drawing/2014/main" val="42178432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9F61-EECA-C02D-6ADE-04D5912FC4FF}"/>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0F5A7FAC-2A81-62DE-4217-AF8BE33DFDCD}"/>
              </a:ext>
            </a:extLst>
          </p:cNvPr>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5937B30F-B7A1-AF6F-D498-DF1B7B3C7A7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graphicFrame>
        <p:nvGraphicFramePr>
          <p:cNvPr id="5" name="Table 4">
            <a:extLst>
              <a:ext uri="{FF2B5EF4-FFF2-40B4-BE49-F238E27FC236}">
                <a16:creationId xmlns:a16="http://schemas.microsoft.com/office/drawing/2014/main" id="{A8B8E5EF-037D-8872-5D00-4B5DBA51C503}"/>
              </a:ext>
            </a:extLst>
          </p:cNvPr>
          <p:cNvGraphicFramePr>
            <a:graphicFrameLocks noGrp="1"/>
          </p:cNvGraphicFramePr>
          <p:nvPr>
            <p:extLst>
              <p:ext uri="{D42A27DB-BD31-4B8C-83A1-F6EECF244321}">
                <p14:modId xmlns:p14="http://schemas.microsoft.com/office/powerpoint/2010/main" val="3283771885"/>
              </p:ext>
            </p:extLst>
          </p:nvPr>
        </p:nvGraphicFramePr>
        <p:xfrm>
          <a:off x="762000" y="1163599"/>
          <a:ext cx="16764000" cy="7959801"/>
        </p:xfrm>
        <a:graphic>
          <a:graphicData uri="http://schemas.openxmlformats.org/drawingml/2006/table">
            <a:tbl>
              <a:tblPr firstRow="1" bandRow="1">
                <a:tableStyleId>{5C22544A-7EE6-4342-B048-85BDC9FD1C3A}</a:tableStyleId>
              </a:tblPr>
              <a:tblGrid>
                <a:gridCol w="761999">
                  <a:extLst>
                    <a:ext uri="{9D8B030D-6E8A-4147-A177-3AD203B41FA5}">
                      <a16:colId xmlns:a16="http://schemas.microsoft.com/office/drawing/2014/main" val="3630710737"/>
                    </a:ext>
                  </a:extLst>
                </a:gridCol>
                <a:gridCol w="2841477">
                  <a:extLst>
                    <a:ext uri="{9D8B030D-6E8A-4147-A177-3AD203B41FA5}">
                      <a16:colId xmlns:a16="http://schemas.microsoft.com/office/drawing/2014/main" val="3057892782"/>
                    </a:ext>
                  </a:extLst>
                </a:gridCol>
                <a:gridCol w="2036747">
                  <a:extLst>
                    <a:ext uri="{9D8B030D-6E8A-4147-A177-3AD203B41FA5}">
                      <a16:colId xmlns:a16="http://schemas.microsoft.com/office/drawing/2014/main" val="1095117156"/>
                    </a:ext>
                  </a:extLst>
                </a:gridCol>
                <a:gridCol w="1566729">
                  <a:extLst>
                    <a:ext uri="{9D8B030D-6E8A-4147-A177-3AD203B41FA5}">
                      <a16:colId xmlns:a16="http://schemas.microsoft.com/office/drawing/2014/main" val="3760510179"/>
                    </a:ext>
                  </a:extLst>
                </a:gridCol>
                <a:gridCol w="3689648">
                  <a:extLst>
                    <a:ext uri="{9D8B030D-6E8A-4147-A177-3AD203B41FA5}">
                      <a16:colId xmlns:a16="http://schemas.microsoft.com/office/drawing/2014/main" val="2148668337"/>
                    </a:ext>
                  </a:extLst>
                </a:gridCol>
                <a:gridCol w="2968948">
                  <a:extLst>
                    <a:ext uri="{9D8B030D-6E8A-4147-A177-3AD203B41FA5}">
                      <a16:colId xmlns:a16="http://schemas.microsoft.com/office/drawing/2014/main" val="4137734635"/>
                    </a:ext>
                  </a:extLst>
                </a:gridCol>
                <a:gridCol w="2898452">
                  <a:extLst>
                    <a:ext uri="{9D8B030D-6E8A-4147-A177-3AD203B41FA5}">
                      <a16:colId xmlns:a16="http://schemas.microsoft.com/office/drawing/2014/main" val="4282765026"/>
                    </a:ext>
                  </a:extLst>
                </a:gridCol>
              </a:tblGrid>
              <a:tr h="1153720">
                <a:tc>
                  <a:txBody>
                    <a:bodyPr/>
                    <a:lstStyle/>
                    <a:p>
                      <a:r>
                        <a:rPr lang="en-IN" dirty="0"/>
                        <a:t> </a:t>
                      </a:r>
                      <a:r>
                        <a:rPr lang="en-IN" dirty="0" err="1"/>
                        <a:t>S.No</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mn-lt"/>
                          <a:ea typeface="+mn-ea"/>
                          <a:cs typeface="+mn-cs"/>
                        </a:rPr>
                        <a:t>TITLE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AUTHORS NAME</a:t>
                      </a:r>
                    </a:p>
                  </a:txBody>
                  <a:tcPr/>
                </a:tc>
                <a:tc>
                  <a:txBody>
                    <a:bodyPr/>
                    <a:lstStyle/>
                    <a:p>
                      <a:r>
                        <a:rPr lang="en-IN" sz="1800" b="1" kern="1200" dirty="0">
                          <a:solidFill>
                            <a:schemeClr val="lt1"/>
                          </a:solidFill>
                          <a:effectLst/>
                          <a:latin typeface="+mn-lt"/>
                          <a:ea typeface="+mn-ea"/>
                          <a:cs typeface="+mn-cs"/>
                        </a:rPr>
                        <a:t>YEAR/ PUBLISHE</a:t>
                      </a:r>
                    </a:p>
                    <a:p>
                      <a:r>
                        <a:rPr lang="en-IN" sz="1800" b="1" kern="1200" dirty="0">
                          <a:solidFill>
                            <a:schemeClr val="lt1"/>
                          </a:solidFill>
                          <a:effectLst/>
                          <a:latin typeface="+mn-lt"/>
                          <a:ea typeface="+mn-ea"/>
                          <a:cs typeface="+mn-cs"/>
                        </a:rPr>
                        <a:t> </a:t>
                      </a:r>
                      <a:endParaRPr lang="en-IN" dirty="0"/>
                    </a:p>
                    <a:p>
                      <a:endParaRPr lang="en-IN" dirty="0"/>
                    </a:p>
                  </a:txBody>
                  <a:tcPr/>
                </a:tc>
                <a:tc>
                  <a:txBody>
                    <a:bodyPr/>
                    <a:lstStyle/>
                    <a:p>
                      <a:r>
                        <a:rPr lang="en-IN" sz="1800" b="1" kern="1200" dirty="0">
                          <a:solidFill>
                            <a:schemeClr val="lt1"/>
                          </a:solidFill>
                          <a:effectLst/>
                          <a:latin typeface="+mn-lt"/>
                          <a:ea typeface="+mn-ea"/>
                          <a:cs typeface="+mn-cs"/>
                        </a:rPr>
                        <a:t>METHOD/ </a:t>
                      </a:r>
                    </a:p>
                    <a:p>
                      <a:r>
                        <a:rPr lang="en-IN" sz="1800" b="1" kern="1200" dirty="0">
                          <a:solidFill>
                            <a:schemeClr val="lt1"/>
                          </a:solidFill>
                          <a:effectLst/>
                          <a:latin typeface="+mn-lt"/>
                          <a:ea typeface="+mn-ea"/>
                          <a:cs typeface="+mn-cs"/>
                        </a:rPr>
                        <a:t>TECHNOLOGY</a:t>
                      </a:r>
                      <a:endParaRPr lang="en-IN" dirty="0"/>
                    </a:p>
                    <a:p>
                      <a:endParaRPr lang="en-IN" dirty="0"/>
                    </a:p>
                  </a:txBody>
                  <a:tcPr/>
                </a:tc>
                <a:tc>
                  <a:txBody>
                    <a:bodyPr/>
                    <a:lstStyle/>
                    <a:p>
                      <a:r>
                        <a:rPr lang="en-IN" sz="1800" b="1" kern="1200" dirty="0">
                          <a:solidFill>
                            <a:schemeClr val="lt1"/>
                          </a:solidFill>
                          <a:effectLst/>
                          <a:latin typeface="+mn-lt"/>
                          <a:ea typeface="+mn-ea"/>
                          <a:cs typeface="+mn-cs"/>
                        </a:rPr>
                        <a:t>LIMITATIONS </a:t>
                      </a:r>
                      <a:endParaRPr lang="en-IN" dirty="0"/>
                    </a:p>
                  </a:txBody>
                  <a:tcPr/>
                </a:tc>
                <a:tc>
                  <a:txBody>
                    <a:bodyPr/>
                    <a:lstStyle/>
                    <a:p>
                      <a:r>
                        <a:rPr lang="en-IN" sz="1800" b="1" kern="1200" dirty="0">
                          <a:solidFill>
                            <a:schemeClr val="lt1"/>
                          </a:solidFill>
                          <a:effectLst/>
                          <a:latin typeface="+mn-lt"/>
                          <a:ea typeface="+mn-ea"/>
                          <a:cs typeface="+mn-cs"/>
                        </a:rPr>
                        <a:t>FUTURE WORK </a:t>
                      </a:r>
                      <a:endParaRPr lang="en-IN" dirty="0"/>
                    </a:p>
                  </a:txBody>
                  <a:tcPr/>
                </a:tc>
                <a:extLst>
                  <a:ext uri="{0D108BD9-81ED-4DB2-BD59-A6C34878D82A}">
                    <a16:rowId xmlns:a16="http://schemas.microsoft.com/office/drawing/2014/main" val="854519873"/>
                  </a:ext>
                </a:extLst>
              </a:tr>
              <a:tr h="1733279">
                <a:tc>
                  <a:txBody>
                    <a:bodyPr/>
                    <a:lstStyle/>
                    <a:p>
                      <a:r>
                        <a:rPr lang="en-IN" sz="1800" kern="1200" dirty="0">
                          <a:solidFill>
                            <a:schemeClr val="dk1"/>
                          </a:solidFill>
                          <a:effectLst/>
                          <a:latin typeface="+mn-lt"/>
                          <a:ea typeface="+mn-ea"/>
                          <a:cs typeface="+mn-cs"/>
                        </a:rPr>
                        <a:t>1. </a:t>
                      </a:r>
                      <a:endParaRPr lang="en-IN" dirty="0"/>
                    </a:p>
                  </a:txBody>
                  <a:tcPr/>
                </a:tc>
                <a:tc>
                  <a:txBody>
                    <a:bodyPr/>
                    <a:lstStyle/>
                    <a:p>
                      <a:pPr lvl="0" algn="l"/>
                      <a:r>
                        <a:rPr lang="en-US" dirty="0"/>
                        <a:t>Early Diagnosis of Parkinson’s Disease Using Machine Learning Algorithms</a:t>
                      </a:r>
                      <a:endParaRPr lang="en-IN" dirty="0"/>
                    </a:p>
                  </a:txBody>
                  <a:tcPr/>
                </a:tc>
                <a:tc>
                  <a:txBody>
                    <a:bodyPr/>
                    <a:lstStyle/>
                    <a:p>
                      <a:r>
                        <a:rPr lang="en-IN" dirty="0"/>
                        <a:t>Z.K. Senturk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2020, Medical Hypotheses</a:t>
                      </a:r>
                      <a:endParaRPr lang="en-IN" b="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 Vector Machine (SVM), Feature Selection</a:t>
                      </a:r>
                      <a:endParaRPr lang="en-IN" b="0" dirty="0"/>
                    </a:p>
                  </a:txBody>
                  <a:tcPr/>
                </a:tc>
                <a:tc>
                  <a:txBody>
                    <a:bodyPr/>
                    <a:lstStyle/>
                    <a:p>
                      <a:r>
                        <a:rPr lang="en-US" dirty="0"/>
                        <a:t>Requires manual feature selection; limited scalability</a:t>
                      </a:r>
                      <a:endParaRPr lang="en-IN" b="0" dirty="0"/>
                    </a:p>
                  </a:txBody>
                  <a:tcPr/>
                </a:tc>
                <a:tc>
                  <a:txBody>
                    <a:bodyPr/>
                    <a:lstStyle/>
                    <a:p>
                      <a:r>
                        <a:rPr lang="en-US" dirty="0"/>
                        <a:t>Automate feature extraction using deep learning</a:t>
                      </a:r>
                      <a:endParaRPr lang="en-IN" b="0" dirty="0"/>
                    </a:p>
                  </a:txBody>
                  <a:tcPr/>
                </a:tc>
                <a:extLst>
                  <a:ext uri="{0D108BD9-81ED-4DB2-BD59-A6C34878D82A}">
                    <a16:rowId xmlns:a16="http://schemas.microsoft.com/office/drawing/2014/main" val="2934505022"/>
                  </a:ext>
                </a:extLst>
              </a:tr>
              <a:tr h="1414120">
                <a:tc>
                  <a:txBody>
                    <a:bodyPr/>
                    <a:lstStyle/>
                    <a:p>
                      <a:r>
                        <a:rPr lang="en-IN" sz="1800" kern="1200" dirty="0">
                          <a:solidFill>
                            <a:schemeClr val="dk1"/>
                          </a:solidFill>
                          <a:effectLst/>
                          <a:latin typeface="+mn-lt"/>
                          <a:ea typeface="+mn-ea"/>
                          <a:cs typeface="+mn-cs"/>
                        </a:rPr>
                        <a:t>2. </a:t>
                      </a:r>
                      <a:endParaRPr lang="en-IN" dirty="0"/>
                    </a:p>
                  </a:txBody>
                  <a:tcPr/>
                </a:tc>
                <a:tc>
                  <a:txBody>
                    <a:bodyPr/>
                    <a:lstStyle/>
                    <a:p>
                      <a:pPr>
                        <a:lnSpc>
                          <a:spcPct val="98000"/>
                        </a:lnSpc>
                        <a:spcAft>
                          <a:spcPts val="10"/>
                        </a:spcAft>
                        <a:buNone/>
                      </a:pPr>
                      <a:r>
                        <a:rPr lang="en-US" dirty="0"/>
                        <a:t>Investigating Voice as a Biomarker for Early Detection of Parkinson’s Disease</a:t>
                      </a:r>
                      <a:endParaRPr lang="en-IN" sz="1800" kern="100" dirty="0">
                        <a:solidFill>
                          <a:srgbClr val="000000"/>
                        </a:solidFill>
                        <a:effectLst/>
                        <a:latin typeface="+mn-lt"/>
                        <a:ea typeface="Calibri" panose="020F0502020204030204" pitchFamily="34" charset="0"/>
                      </a:endParaRPr>
                    </a:p>
                  </a:txBody>
                  <a:tcPr marL="68580" marR="25400" marB="0"/>
                </a:tc>
                <a:tc>
                  <a:txBody>
                    <a:bodyPr/>
                    <a:lstStyle/>
                    <a:p>
                      <a:r>
                        <a:rPr lang="en-IN" dirty="0"/>
                        <a:t>J.M. Tracy et 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2020, Journal of Biomedical Informatics</a:t>
                      </a:r>
                      <a:endParaRPr lang="en-IN" b="0" dirty="0"/>
                    </a:p>
                    <a:p>
                      <a:endParaRPr lang="en-IN" dirty="0"/>
                    </a:p>
                  </a:txBody>
                  <a:tcPr/>
                </a:tc>
                <a:tc>
                  <a:txBody>
                    <a:bodyPr/>
                    <a:lstStyle/>
                    <a:p>
                      <a:r>
                        <a:rPr lang="en-US" dirty="0"/>
                        <a:t>Logistic Regression, Random Forest, Gradient Boosting</a:t>
                      </a:r>
                      <a:endParaRPr lang="en-IN" b="0" dirty="0"/>
                    </a:p>
                  </a:txBody>
                  <a:tcPr/>
                </a:tc>
                <a:tc>
                  <a:txBody>
                    <a:bodyPr/>
                    <a:lstStyle/>
                    <a:p>
                      <a:r>
                        <a:rPr lang="en-US" dirty="0"/>
                        <a:t>Limited deep learning exploration; feature dependency</a:t>
                      </a:r>
                      <a:endParaRPr lang="en-IN" b="0" dirty="0"/>
                    </a:p>
                  </a:txBody>
                  <a:tcPr/>
                </a:tc>
                <a:tc>
                  <a:txBody>
                    <a:bodyPr/>
                    <a:lstStyle/>
                    <a:p>
                      <a:r>
                        <a:rPr lang="en-IN" sz="1800" b="0" kern="1200" dirty="0">
                          <a:solidFill>
                            <a:schemeClr val="dk1"/>
                          </a:solidFill>
                          <a:effectLst/>
                          <a:latin typeface="+mn-lt"/>
                          <a:ea typeface="+mn-ea"/>
                          <a:cs typeface="+mn-cs"/>
                        </a:rPr>
                        <a:t> </a:t>
                      </a:r>
                      <a:r>
                        <a:rPr lang="en-IN" dirty="0"/>
                        <a:t>Integrate CNN-LSTM hybrid models; multimodal biomarker analysis</a:t>
                      </a:r>
                      <a:endParaRPr lang="en-IN" b="0" dirty="0"/>
                    </a:p>
                  </a:txBody>
                  <a:tcPr/>
                </a:tc>
                <a:extLst>
                  <a:ext uri="{0D108BD9-81ED-4DB2-BD59-A6C34878D82A}">
                    <a16:rowId xmlns:a16="http://schemas.microsoft.com/office/drawing/2014/main" val="3214233797"/>
                  </a:ext>
                </a:extLst>
              </a:tr>
              <a:tr h="1679267">
                <a:tc>
                  <a:txBody>
                    <a:bodyPr/>
                    <a:lstStyle/>
                    <a:p>
                      <a:r>
                        <a:rPr lang="en-IN" dirty="0"/>
                        <a:t>3.</a:t>
                      </a:r>
                    </a:p>
                  </a:txBody>
                  <a:tcPr/>
                </a:tc>
                <a:tc>
                  <a:txBody>
                    <a:bodyPr/>
                    <a:lstStyle/>
                    <a:p>
                      <a:r>
                        <a:rPr lang="en-US" dirty="0"/>
                        <a:t>Parkinson’s Disease Detection Based on Spectrogram-DCGAN</a:t>
                      </a:r>
                      <a:endParaRPr lang="en-IN" dirty="0"/>
                    </a:p>
                  </a:txBody>
                  <a:tcPr/>
                </a:tc>
                <a:tc>
                  <a:txBody>
                    <a:bodyPr/>
                    <a:lstStyle/>
                    <a:p>
                      <a:r>
                        <a:rPr lang="da-DK" dirty="0"/>
                        <a:t>Z.J. Xu et al</a:t>
                      </a:r>
                      <a:endParaRPr lang="en-IN" dirty="0"/>
                    </a:p>
                  </a:txBody>
                  <a:tcPr/>
                </a:tc>
                <a:tc>
                  <a:txBody>
                    <a:bodyPr/>
                    <a:lstStyle/>
                    <a:p>
                      <a:r>
                        <a:rPr lang="en-IN" dirty="0"/>
                        <a:t>2020, IEEE Access</a:t>
                      </a:r>
                    </a:p>
                  </a:txBody>
                  <a:tcPr/>
                </a:tc>
                <a:tc>
                  <a:txBody>
                    <a:bodyPr/>
                    <a:lstStyle/>
                    <a:p>
                      <a:r>
                        <a:rPr lang="en-IN" dirty="0"/>
                        <a:t>Spectrogram images, ResNet50, GAN-based data augmentation</a:t>
                      </a:r>
                      <a:endParaRPr lang="en-IN" b="0" dirty="0"/>
                    </a:p>
                  </a:txBody>
                  <a:tcPr/>
                </a:tc>
                <a:tc>
                  <a:txBody>
                    <a:bodyPr/>
                    <a:lstStyle/>
                    <a:p>
                      <a:r>
                        <a:rPr lang="en-IN" dirty="0"/>
                        <a:t>Small dataset; computational complexity</a:t>
                      </a:r>
                      <a:endParaRPr lang="en-IN" b="0" dirty="0"/>
                    </a:p>
                  </a:txBody>
                  <a:tcPr/>
                </a:tc>
                <a:tc>
                  <a:txBody>
                    <a:bodyPr/>
                    <a:lstStyle/>
                    <a:p>
                      <a:r>
                        <a:rPr lang="en-US" dirty="0"/>
                        <a:t>Use larger datasets; optimize GAN stability; real-time implementation</a:t>
                      </a:r>
                      <a:endParaRPr lang="en-IN" b="0" dirty="0"/>
                    </a:p>
                  </a:txBody>
                  <a:tcPr/>
                </a:tc>
                <a:extLst>
                  <a:ext uri="{0D108BD9-81ED-4DB2-BD59-A6C34878D82A}">
                    <a16:rowId xmlns:a16="http://schemas.microsoft.com/office/drawing/2014/main" val="823262931"/>
                  </a:ext>
                </a:extLst>
              </a:tr>
              <a:tr h="1944415">
                <a:tc>
                  <a:txBody>
                    <a:bodyPr/>
                    <a:lstStyle/>
                    <a:p>
                      <a:r>
                        <a:rPr lang="en-IN" dirty="0"/>
                        <a:t>4.</a:t>
                      </a:r>
                    </a:p>
                  </a:txBody>
                  <a:tcPr/>
                </a:tc>
                <a:tc>
                  <a:txBody>
                    <a:bodyPr/>
                    <a:lstStyle/>
                    <a:p>
                      <a:r>
                        <a:rPr lang="en-IN" dirty="0" err="1"/>
                        <a:t>ResNet</a:t>
                      </a:r>
                      <a:r>
                        <a:rPr lang="en-IN" dirty="0"/>
                        <a:t>-Based Parkinson’s Disease Classification</a:t>
                      </a:r>
                    </a:p>
                  </a:txBody>
                  <a:tcPr/>
                </a:tc>
                <a:tc>
                  <a:txBody>
                    <a:bodyPr/>
                    <a:lstStyle/>
                    <a:p>
                      <a:r>
                        <a:rPr lang="sv-SE" dirty="0"/>
                        <a:t>Omar El Ariss, Kaoning Hu</a:t>
                      </a:r>
                      <a:endParaRPr lang="en-IN" dirty="0"/>
                    </a:p>
                  </a:txBody>
                  <a:tcPr/>
                </a:tc>
                <a:tc>
                  <a:txBody>
                    <a:bodyPr/>
                    <a:lstStyle/>
                    <a:p>
                      <a:r>
                        <a:rPr lang="en-IN" dirty="0"/>
                        <a:t>2023,</a:t>
                      </a:r>
                      <a:r>
                        <a:rPr lang="fr-FR" dirty="0"/>
                        <a:t> IEEE Transactions on </a:t>
                      </a:r>
                      <a:r>
                        <a:rPr lang="fr-FR" dirty="0" err="1"/>
                        <a:t>Artificial</a:t>
                      </a:r>
                      <a:r>
                        <a:rPr lang="fr-FR" dirty="0"/>
                        <a:t> Intelligence</a:t>
                      </a:r>
                      <a:endParaRPr lang="en-IN" sz="1800" kern="1200" dirty="0">
                        <a:solidFill>
                          <a:schemeClr val="dk1"/>
                        </a:solidFill>
                        <a:effectLst/>
                        <a:latin typeface="+mn-lt"/>
                        <a:ea typeface="+mn-ea"/>
                        <a:cs typeface="+mn-cs"/>
                      </a:endParaRPr>
                    </a:p>
                  </a:txBody>
                  <a:tcPr/>
                </a:tc>
                <a:tc>
                  <a:txBody>
                    <a:bodyPr/>
                    <a:lstStyle/>
                    <a:p>
                      <a:r>
                        <a:rPr lang="en-US" dirty="0"/>
                        <a:t>ResNet50, Transfer Learning, Heat Map Conversion of TQWT, DWT, MFCC features</a:t>
                      </a:r>
                      <a:endParaRPr lang="en-IN"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 </a:t>
                      </a:r>
                      <a:r>
                        <a:rPr lang="en-US" dirty="0"/>
                        <a:t>Limited to single dataset (Sakar dataset); class imbalance; only speech modality</a:t>
                      </a:r>
                      <a:endParaRPr lang="en-IN" dirty="0"/>
                    </a:p>
                  </a:txBody>
                  <a:tcPr/>
                </a:tc>
                <a:tc>
                  <a:txBody>
                    <a:bodyPr/>
                    <a:lstStyle/>
                    <a:p>
                      <a:r>
                        <a:rPr lang="en-US" dirty="0"/>
                        <a:t>Combine multiple feature sets; explore multimodal frameworks; investigate impact of color encoding</a:t>
                      </a:r>
                      <a:endParaRPr lang="en-IN" dirty="0"/>
                    </a:p>
                  </a:txBody>
                  <a:tcPr/>
                </a:tc>
                <a:extLst>
                  <a:ext uri="{0D108BD9-81ED-4DB2-BD59-A6C34878D82A}">
                    <a16:rowId xmlns:a16="http://schemas.microsoft.com/office/drawing/2014/main" val="4217843212"/>
                  </a:ext>
                </a:extLst>
              </a:tr>
            </a:tbl>
          </a:graphicData>
        </a:graphic>
      </p:graphicFrame>
    </p:spTree>
    <p:extLst>
      <p:ext uri="{BB962C8B-B14F-4D97-AF65-F5344CB8AC3E}">
        <p14:creationId xmlns:p14="http://schemas.microsoft.com/office/powerpoint/2010/main" val="2806472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501D2-E2CB-A084-B717-07E848AC20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ADE1262-1C0C-3225-3A92-4B19EF08B50B}"/>
              </a:ext>
            </a:extLst>
          </p:cNvPr>
          <p:cNvSpPr/>
          <p:nvPr/>
        </p:nvSpPr>
        <p:spPr>
          <a:xfrm>
            <a:off x="-14748"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5" name="TextBox 4">
            <a:extLst>
              <a:ext uri="{FF2B5EF4-FFF2-40B4-BE49-F238E27FC236}">
                <a16:creationId xmlns:a16="http://schemas.microsoft.com/office/drawing/2014/main" id="{51CC0CB7-62F6-B43C-A68E-813ABF3225AF}"/>
              </a:ext>
            </a:extLst>
          </p:cNvPr>
          <p:cNvSpPr txBox="1"/>
          <p:nvPr/>
        </p:nvSpPr>
        <p:spPr>
          <a:xfrm>
            <a:off x="1066800" y="1434792"/>
            <a:ext cx="16383000" cy="6740307"/>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PROPOSED SYSTEM</a:t>
            </a:r>
          </a:p>
          <a:p>
            <a:endParaRPr lang="en-US" sz="5400" b="1"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proposed system uses a deep learning approach to detect Parkinson’s Disease from voice signals.</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Voice recordings are preprocessed, and important features such as MFCC are extracted for analysis.</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 CNN model learns spectral and frequency-based patterns from the voice data.</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Autoencoder captures temporal variations and detects abnormalities using reconstruction error.</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system classifies voice samples as normal or potentially Parkinson’s affected, supporting early and non-invasive diagnosis.</a:t>
            </a:r>
          </a:p>
        </p:txBody>
      </p:sp>
    </p:spTree>
    <p:extLst>
      <p:ext uri="{BB962C8B-B14F-4D97-AF65-F5344CB8AC3E}">
        <p14:creationId xmlns:p14="http://schemas.microsoft.com/office/powerpoint/2010/main" val="3208682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06F9F-A167-E118-4B31-84A92F7BB386}"/>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D973CBA8-0F00-8DEA-D86A-5EF6E3FF1080}"/>
              </a:ext>
            </a:extLst>
          </p:cNvPr>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5E4B7ECD-CD34-6DB6-AF73-4C6728AAB799}"/>
              </a:ext>
            </a:extLst>
          </p:cNvPr>
          <p:cNvSpPr/>
          <p:nvPr/>
        </p:nvSpPr>
        <p:spPr>
          <a:xfrm>
            <a:off x="-38100" y="-2606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2">
            <a:extLst>
              <a:ext uri="{FF2B5EF4-FFF2-40B4-BE49-F238E27FC236}">
                <a16:creationId xmlns:a16="http://schemas.microsoft.com/office/drawing/2014/main" id="{4BA26A32-B762-6FCA-C695-05AB0987C622}"/>
              </a:ext>
            </a:extLst>
          </p:cNvPr>
          <p:cNvSpPr txBox="1"/>
          <p:nvPr/>
        </p:nvSpPr>
        <p:spPr>
          <a:xfrm>
            <a:off x="609600" y="1104900"/>
            <a:ext cx="8077200" cy="10668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D0FB2ED8-5D97-7783-77DB-3BAD1F49A5D8}"/>
              </a:ext>
            </a:extLst>
          </p:cNvPr>
          <p:cNvSpPr txBox="1"/>
          <p:nvPr/>
        </p:nvSpPr>
        <p:spPr>
          <a:xfrm>
            <a:off x="609600" y="876300"/>
            <a:ext cx="8991600"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SYSTEM ARCHITECTURE</a:t>
            </a:r>
            <a:r>
              <a:rPr lang="en-IN" dirty="0"/>
              <a:t> </a:t>
            </a:r>
          </a:p>
        </p:txBody>
      </p:sp>
      <p:pic>
        <p:nvPicPr>
          <p:cNvPr id="8" name="Picture 7">
            <a:extLst>
              <a:ext uri="{FF2B5EF4-FFF2-40B4-BE49-F238E27FC236}">
                <a16:creationId xmlns:a16="http://schemas.microsoft.com/office/drawing/2014/main" id="{B25D8FEB-1565-B9BF-FD90-B88F2D142E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2527681"/>
            <a:ext cx="16002000" cy="4440111"/>
          </a:xfrm>
          <a:prstGeom prst="rect">
            <a:avLst/>
          </a:prstGeom>
        </p:spPr>
      </p:pic>
    </p:spTree>
    <p:extLst>
      <p:ext uri="{BB962C8B-B14F-4D97-AF65-F5344CB8AC3E}">
        <p14:creationId xmlns:p14="http://schemas.microsoft.com/office/powerpoint/2010/main" val="89170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12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6" name="TextBox 5">
            <a:extLst>
              <a:ext uri="{FF2B5EF4-FFF2-40B4-BE49-F238E27FC236}">
                <a16:creationId xmlns:a16="http://schemas.microsoft.com/office/drawing/2014/main" id="{3702CC98-880E-C035-429C-8AADE2A3FDF6}"/>
              </a:ext>
            </a:extLst>
          </p:cNvPr>
          <p:cNvSpPr txBox="1"/>
          <p:nvPr/>
        </p:nvSpPr>
        <p:spPr>
          <a:xfrm>
            <a:off x="-22123" y="342900"/>
            <a:ext cx="11506200" cy="1200329"/>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    </a:t>
            </a:r>
            <a:r>
              <a:rPr lang="tam" sz="5400" b="1" dirty="0">
                <a:latin typeface="Times New Roman" panose="02020603050405020304" pitchFamily="18" charset="0"/>
                <a:cs typeface="Times New Roman" panose="02020603050405020304" pitchFamily="18" charset="0"/>
              </a:rPr>
              <a:t>METHODS AND TECHNIQUES</a:t>
            </a:r>
            <a:endParaRPr lang="en-IN" sz="5400" b="1"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8B41AC26-A78A-B168-74C3-9EC1ED01C781}"/>
              </a:ext>
            </a:extLst>
          </p:cNvPr>
          <p:cNvSpPr txBox="1"/>
          <p:nvPr/>
        </p:nvSpPr>
        <p:spPr>
          <a:xfrm>
            <a:off x="838200" y="1886129"/>
            <a:ext cx="16306800" cy="7848302"/>
          </a:xfrm>
          <a:prstGeom prst="rect">
            <a:avLst/>
          </a:prstGeom>
          <a:noFill/>
        </p:spPr>
        <p:txBody>
          <a:bodyPr wrap="square" rtlCol="0">
            <a:spAutoFit/>
          </a:bodyPr>
          <a:lstStyle/>
          <a:p>
            <a:pPr algn="just"/>
            <a:r>
              <a:rPr lang="en-US" sz="3600" b="1" dirty="0">
                <a:latin typeface="Times New Roman" panose="02020603050405020304" pitchFamily="18" charset="0"/>
                <a:cs typeface="Times New Roman" panose="02020603050405020304" pitchFamily="18" charset="0"/>
              </a:rPr>
              <a:t>Voice Data Collection</a:t>
            </a:r>
          </a:p>
          <a:p>
            <a:pPr marL="1943100" lvl="3" indent="-571500" algn="just">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Collect voice recordings from individuals (normal and Parkinson’s affected).</a:t>
            </a:r>
          </a:p>
          <a:p>
            <a:pPr marL="1943100" lvl="3"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 Use short speech samples for analysis.</a:t>
            </a:r>
          </a:p>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Preprocessing</a:t>
            </a:r>
          </a:p>
          <a:p>
            <a:pPr marL="1943100" lvl="3"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Normalize the audio signal for consistent amplitude levels.</a:t>
            </a:r>
          </a:p>
          <a:p>
            <a:pPr marL="1943100" lvl="3"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Remove silence and unwanted segments before feature extraction.</a:t>
            </a:r>
          </a:p>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Feature Extraction</a:t>
            </a:r>
          </a:p>
          <a:p>
            <a:pPr marL="1943100" lvl="3"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Extract MFCC features from the preprocessed voice signals.</a:t>
            </a:r>
          </a:p>
          <a:p>
            <a:pPr marL="1943100" lvl="3"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Convert voice signals into a structured feature representation suitable for deep learning analysis.</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0CCE3-08A6-98AA-18DF-E1429CF69B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330D67-4CE9-6A39-55AB-1D6DBF640F72}"/>
              </a:ext>
            </a:extLst>
          </p:cNvPr>
          <p:cNvSpPr/>
          <p:nvPr/>
        </p:nvSpPr>
        <p:spPr>
          <a:xfrm>
            <a:off x="147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10" name="TextBox 10">
            <a:extLst>
              <a:ext uri="{FF2B5EF4-FFF2-40B4-BE49-F238E27FC236}">
                <a16:creationId xmlns:a16="http://schemas.microsoft.com/office/drawing/2014/main" id="{CF64F0D7-3978-85BE-5D55-2CA86561C520}"/>
              </a:ext>
            </a:extLst>
          </p:cNvPr>
          <p:cNvSpPr txBox="1"/>
          <p:nvPr/>
        </p:nvSpPr>
        <p:spPr>
          <a:xfrm>
            <a:off x="762000" y="342900"/>
            <a:ext cx="16306800" cy="6032421"/>
          </a:xfrm>
          <a:prstGeom prst="rect">
            <a:avLst/>
          </a:prstGeom>
        </p:spPr>
        <p:txBody>
          <a:bodyPr wrap="square" lIns="0" tIns="0" rIns="0" bIns="0" rtlCol="0" anchor="t">
            <a:sp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Model Training</a:t>
            </a:r>
          </a:p>
          <a:p>
            <a:pPr marL="2400300" lvl="4"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Train a CNN +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Autoencoder model using the extracted features.</a:t>
            </a:r>
          </a:p>
          <a:p>
            <a:pPr marL="2400300" lvl="4"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Use CNN to learn spectral and frequency-based patterns.</a:t>
            </a:r>
          </a:p>
          <a:p>
            <a:pPr marL="2400300" lvl="4"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Use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to capture temporal and sequential variations in speech.</a:t>
            </a:r>
          </a:p>
          <a:p>
            <a:pPr lvl="4"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Classification</a:t>
            </a:r>
          </a:p>
          <a:p>
            <a:pPr marL="2400300" lvl="4"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Detect abnormalities using reconstruction error and classify voice samples    as normal or potentially Parkinson’s affected.</a:t>
            </a:r>
          </a:p>
          <a:p>
            <a:pPr algn="just"/>
            <a:endParaRPr lang="en-US" sz="3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dirty="0">
              <a:solidFill>
                <a:schemeClr val="tx1">
                  <a:lumMod val="75000"/>
                  <a:lumOff val="25000"/>
                </a:schemeClr>
              </a:solidFill>
              <a:latin typeface="Times New Roman" panose="02020603050405020304" pitchFamily="18" charset="0"/>
              <a:ea typeface="Poppins Bold"/>
              <a:cs typeface="Times New Roman" panose="02020603050405020304" pitchFamily="18" charset="0"/>
              <a:sym typeface="Poppins Bold"/>
            </a:endParaRPr>
          </a:p>
        </p:txBody>
      </p:sp>
    </p:spTree>
    <p:extLst>
      <p:ext uri="{BB962C8B-B14F-4D97-AF65-F5344CB8AC3E}">
        <p14:creationId xmlns:p14="http://schemas.microsoft.com/office/powerpoint/2010/main" val="2051861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7124-4401-8FE5-0720-AFACD048A6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669BEB1-6431-B3A9-EF59-070B9EE54FA4}"/>
              </a:ext>
            </a:extLst>
          </p:cNvPr>
          <p:cNvSpPr/>
          <p:nvPr/>
        </p:nvSpPr>
        <p:spPr>
          <a:xfrm>
            <a:off x="147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10" name="TextBox 10">
            <a:extLst>
              <a:ext uri="{FF2B5EF4-FFF2-40B4-BE49-F238E27FC236}">
                <a16:creationId xmlns:a16="http://schemas.microsoft.com/office/drawing/2014/main" id="{F8B1ECDA-916C-DA70-8444-ABFA2DD11F03}"/>
              </a:ext>
            </a:extLst>
          </p:cNvPr>
          <p:cNvSpPr txBox="1"/>
          <p:nvPr/>
        </p:nvSpPr>
        <p:spPr>
          <a:xfrm>
            <a:off x="762000" y="342900"/>
            <a:ext cx="16306800" cy="1600438"/>
          </a:xfrm>
          <a:prstGeom prst="rect">
            <a:avLst/>
          </a:prstGeom>
        </p:spPr>
        <p:txBody>
          <a:bodyPr wrap="square" lIns="0" tIns="0" rIns="0" bIns="0" rtlCol="0" anchor="t">
            <a:spAutoFit/>
          </a:bodyPr>
          <a:lstStyle/>
          <a:p>
            <a:pPr algn="just"/>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dirty="0">
              <a:solidFill>
                <a:schemeClr val="tx1">
                  <a:lumMod val="75000"/>
                  <a:lumOff val="25000"/>
                </a:schemeClr>
              </a:solidFill>
              <a:latin typeface="Times New Roman" panose="02020603050405020304" pitchFamily="18" charset="0"/>
              <a:ea typeface="Poppins Bold"/>
              <a:cs typeface="Times New Roman" panose="02020603050405020304" pitchFamily="18" charset="0"/>
              <a:sym typeface="Poppins Bold"/>
            </a:endParaRPr>
          </a:p>
        </p:txBody>
      </p:sp>
      <p:sp>
        <p:nvSpPr>
          <p:cNvPr id="3" name="TextBox 2">
            <a:extLst>
              <a:ext uri="{FF2B5EF4-FFF2-40B4-BE49-F238E27FC236}">
                <a16:creationId xmlns:a16="http://schemas.microsoft.com/office/drawing/2014/main" id="{B5750F95-0EE6-28D5-F53B-C6EF61E16F6B}"/>
              </a:ext>
            </a:extLst>
          </p:cNvPr>
          <p:cNvSpPr txBox="1"/>
          <p:nvPr/>
        </p:nvSpPr>
        <p:spPr>
          <a:xfrm>
            <a:off x="1066800" y="1020008"/>
            <a:ext cx="10744200" cy="923330"/>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MODULES</a:t>
            </a:r>
          </a:p>
        </p:txBody>
      </p:sp>
      <p:sp>
        <p:nvSpPr>
          <p:cNvPr id="4" name="TextBox 3">
            <a:extLst>
              <a:ext uri="{FF2B5EF4-FFF2-40B4-BE49-F238E27FC236}">
                <a16:creationId xmlns:a16="http://schemas.microsoft.com/office/drawing/2014/main" id="{A7D0A742-6D00-101C-87E8-9D6DB5BF4543}"/>
              </a:ext>
            </a:extLst>
          </p:cNvPr>
          <p:cNvSpPr txBox="1"/>
          <p:nvPr/>
        </p:nvSpPr>
        <p:spPr>
          <a:xfrm>
            <a:off x="4038600" y="2284233"/>
            <a:ext cx="9541042" cy="5847755"/>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en-IN" sz="3400" dirty="0">
                <a:latin typeface="Times New Roman" panose="02020603050405020304" pitchFamily="18" charset="0"/>
                <a:cs typeface="Times New Roman" panose="02020603050405020304" pitchFamily="18" charset="0"/>
              </a:rPr>
              <a:t>User Authentication &amp; Session Management</a:t>
            </a:r>
          </a:p>
          <a:p>
            <a:pPr marL="457200" indent="-457200">
              <a:lnSpc>
                <a:spcPct val="200000"/>
              </a:lnSpc>
              <a:buFont typeface="Arial" panose="020B0604020202020204" pitchFamily="34" charset="0"/>
              <a:buChar char="•"/>
            </a:pPr>
            <a:r>
              <a:rPr lang="en-IN" sz="3400" dirty="0">
                <a:latin typeface="Times New Roman" panose="02020603050405020304" pitchFamily="18" charset="0"/>
                <a:cs typeface="Times New Roman" panose="02020603050405020304" pitchFamily="18" charset="0"/>
              </a:rPr>
              <a:t>Voice Input &amp; Preprocessing</a:t>
            </a:r>
          </a:p>
          <a:p>
            <a:pPr marL="457200" indent="-457200">
              <a:lnSpc>
                <a:spcPct val="200000"/>
              </a:lnSpc>
              <a:buFont typeface="Arial" panose="020B0604020202020204" pitchFamily="34" charset="0"/>
              <a:buChar char="•"/>
            </a:pPr>
            <a:r>
              <a:rPr lang="en-IN" sz="3400" dirty="0">
                <a:latin typeface="Times New Roman" panose="02020603050405020304" pitchFamily="18" charset="0"/>
                <a:cs typeface="Times New Roman" panose="02020603050405020304" pitchFamily="18" charset="0"/>
              </a:rPr>
              <a:t>CNN + </a:t>
            </a:r>
            <a:r>
              <a:rPr lang="en-IN" sz="3400" dirty="0" err="1">
                <a:latin typeface="Times New Roman" panose="02020603050405020304" pitchFamily="18" charset="0"/>
                <a:cs typeface="Times New Roman" panose="02020603050405020304" pitchFamily="18" charset="0"/>
              </a:rPr>
              <a:t>BiLSTM</a:t>
            </a:r>
            <a:r>
              <a:rPr lang="en-IN" sz="3400" dirty="0">
                <a:latin typeface="Times New Roman" panose="02020603050405020304" pitchFamily="18" charset="0"/>
                <a:cs typeface="Times New Roman" panose="02020603050405020304" pitchFamily="18" charset="0"/>
              </a:rPr>
              <a:t> Autoencoder</a:t>
            </a:r>
          </a:p>
          <a:p>
            <a:pPr marL="457200" indent="-457200">
              <a:lnSpc>
                <a:spcPct val="200000"/>
              </a:lnSpc>
              <a:buFont typeface="Arial" panose="020B0604020202020204" pitchFamily="34" charset="0"/>
              <a:buChar char="•"/>
            </a:pPr>
            <a:r>
              <a:rPr lang="en-IN" sz="3400" dirty="0">
                <a:latin typeface="Times New Roman" panose="02020603050405020304" pitchFamily="18" charset="0"/>
                <a:cs typeface="Times New Roman" panose="02020603050405020304" pitchFamily="18" charset="0"/>
              </a:rPr>
              <a:t>Classification &amp; Risk Stratification</a:t>
            </a:r>
          </a:p>
          <a:p>
            <a:pPr marL="457200" indent="-457200">
              <a:lnSpc>
                <a:spcPct val="200000"/>
              </a:lnSpc>
              <a:buFont typeface="Arial" panose="020B0604020202020204" pitchFamily="34" charset="0"/>
              <a:buChar char="•"/>
            </a:pPr>
            <a:r>
              <a:rPr lang="en-IN" sz="3400" dirty="0">
                <a:latin typeface="Times New Roman" panose="02020603050405020304" pitchFamily="18" charset="0"/>
                <a:cs typeface="Times New Roman" panose="02020603050405020304" pitchFamily="18" charset="0"/>
              </a:rPr>
              <a:t>Web Interface &amp; Reporting</a:t>
            </a:r>
          </a:p>
          <a:p>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7581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F2EB7-7A37-5A3B-7D66-C8E81681E549}"/>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EC890A33-7482-E105-3EF8-52636025401F}"/>
              </a:ext>
            </a:extLst>
          </p:cNvPr>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08F5DB8D-8D31-0C1B-B492-F6406DCB911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2">
            <a:extLst>
              <a:ext uri="{FF2B5EF4-FFF2-40B4-BE49-F238E27FC236}">
                <a16:creationId xmlns:a16="http://schemas.microsoft.com/office/drawing/2014/main" id="{D1DE64B0-50BB-4F96-2230-5C945D5C2D43}"/>
              </a:ext>
            </a:extLst>
          </p:cNvPr>
          <p:cNvSpPr txBox="1"/>
          <p:nvPr/>
        </p:nvSpPr>
        <p:spPr>
          <a:xfrm>
            <a:off x="990600" y="476905"/>
            <a:ext cx="15316200" cy="1477328"/>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SOFTWARE REQUIREMENTS</a:t>
            </a:r>
          </a:p>
          <a:p>
            <a:endParaRPr lang="en-IN" dirty="0"/>
          </a:p>
          <a:p>
            <a:endParaRPr lang="en-IN" dirty="0"/>
          </a:p>
        </p:txBody>
      </p:sp>
      <p:graphicFrame>
        <p:nvGraphicFramePr>
          <p:cNvPr id="2" name="Table 1">
            <a:extLst>
              <a:ext uri="{FF2B5EF4-FFF2-40B4-BE49-F238E27FC236}">
                <a16:creationId xmlns:a16="http://schemas.microsoft.com/office/drawing/2014/main" id="{4C6F0F82-57E2-0161-AFC3-12B75DA5156A}"/>
              </a:ext>
            </a:extLst>
          </p:cNvPr>
          <p:cNvGraphicFramePr>
            <a:graphicFrameLocks noGrp="1"/>
          </p:cNvGraphicFramePr>
          <p:nvPr>
            <p:extLst>
              <p:ext uri="{D42A27DB-BD31-4B8C-83A1-F6EECF244321}">
                <p14:modId xmlns:p14="http://schemas.microsoft.com/office/powerpoint/2010/main" val="2970873285"/>
              </p:ext>
            </p:extLst>
          </p:nvPr>
        </p:nvGraphicFramePr>
        <p:xfrm>
          <a:off x="1485900" y="1808028"/>
          <a:ext cx="15506700" cy="7831873"/>
        </p:xfrm>
        <a:graphic>
          <a:graphicData uri="http://schemas.openxmlformats.org/drawingml/2006/table">
            <a:tbl>
              <a:tblPr firstRow="1" bandRow="1">
                <a:tableStyleId>{073A0DAA-6AF3-43AB-8588-CEC1D06C72B9}</a:tableStyleId>
              </a:tblPr>
              <a:tblGrid>
                <a:gridCol w="5976541">
                  <a:extLst>
                    <a:ext uri="{9D8B030D-6E8A-4147-A177-3AD203B41FA5}">
                      <a16:colId xmlns:a16="http://schemas.microsoft.com/office/drawing/2014/main" val="1828767582"/>
                    </a:ext>
                  </a:extLst>
                </a:gridCol>
                <a:gridCol w="9530159">
                  <a:extLst>
                    <a:ext uri="{9D8B030D-6E8A-4147-A177-3AD203B41FA5}">
                      <a16:colId xmlns:a16="http://schemas.microsoft.com/office/drawing/2014/main" val="1666280706"/>
                    </a:ext>
                  </a:extLst>
                </a:gridCol>
              </a:tblGrid>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24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                     </a:t>
                      </a:r>
                    </a:p>
                    <a:p>
                      <a:pPr algn="l"/>
                      <a:endParaRPr lang="en-IN" sz="4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6167303"/>
                  </a:ext>
                </a:extLst>
              </a:tr>
              <a:tr h="10293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Operating System</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Windows 10 / 11 or Linux</a:t>
                      </a:r>
                    </a:p>
                    <a:p>
                      <a:endParaRPr lang="en-IN" dirty="0"/>
                    </a:p>
                  </a:txBody>
                  <a:tcPr/>
                </a:tc>
                <a:extLst>
                  <a:ext uri="{0D108BD9-81ED-4DB2-BD59-A6C34878D82A}">
                    <a16:rowId xmlns:a16="http://schemas.microsoft.com/office/drawing/2014/main" val="2478975283"/>
                  </a:ext>
                </a:extLst>
              </a:tr>
              <a:tr h="1010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Programming Language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Python 3.8 or higher</a:t>
                      </a:r>
                    </a:p>
                    <a:p>
                      <a:endParaRPr lang="en-IN" dirty="0"/>
                    </a:p>
                  </a:txBody>
                  <a:tcPr/>
                </a:tc>
                <a:extLst>
                  <a:ext uri="{0D108BD9-81ED-4DB2-BD59-A6C34878D82A}">
                    <a16:rowId xmlns:a16="http://schemas.microsoft.com/office/drawing/2014/main" val="1390430022"/>
                  </a:ext>
                </a:extLst>
              </a:tr>
              <a:tr h="10822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Development Environment</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err="1">
                          <a:latin typeface="Times New Roman" panose="02020603050405020304" pitchFamily="18" charset="0"/>
                          <a:cs typeface="Times New Roman" panose="02020603050405020304" pitchFamily="18" charset="0"/>
                        </a:rPr>
                        <a:t>Jupyter</a:t>
                      </a:r>
                      <a:r>
                        <a:rPr lang="en-IN" sz="3600" dirty="0">
                          <a:latin typeface="Times New Roman" panose="02020603050405020304" pitchFamily="18" charset="0"/>
                          <a:cs typeface="Times New Roman" panose="02020603050405020304" pitchFamily="18" charset="0"/>
                        </a:rPr>
                        <a:t> Notebook / VS Code / PyCharm</a:t>
                      </a:r>
                    </a:p>
                    <a:p>
                      <a:endParaRPr lang="en-IN" dirty="0"/>
                    </a:p>
                  </a:txBody>
                  <a:tcPr/>
                </a:tc>
                <a:extLst>
                  <a:ext uri="{0D108BD9-81ED-4DB2-BD59-A6C34878D82A}">
                    <a16:rowId xmlns:a16="http://schemas.microsoft.com/office/drawing/2014/main" val="1776359671"/>
                  </a:ext>
                </a:extLst>
              </a:tr>
              <a:tr h="24242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Libraries &amp; Frameworks</a:t>
                      </a:r>
                    </a:p>
                    <a:p>
                      <a:endParaRPr lang="en-IN" dirty="0"/>
                    </a:p>
                  </a:txBody>
                  <a:tcPr/>
                </a:tc>
                <a:tc>
                  <a:txBody>
                    <a:bodyPr/>
                    <a:lstStyle/>
                    <a:p>
                      <a:r>
                        <a:rPr lang="en-IN" sz="3600" dirty="0" err="1">
                          <a:latin typeface="Times New Roman" panose="02020603050405020304" pitchFamily="18" charset="0"/>
                          <a:cs typeface="Times New Roman" panose="02020603050405020304" pitchFamily="18" charset="0"/>
                        </a:rPr>
                        <a:t>NumPy,Pandas,Librosa</a:t>
                      </a:r>
                      <a:r>
                        <a:rPr lang="en-IN" sz="3600" dirty="0">
                          <a:latin typeface="Times New Roman" panose="02020603050405020304" pitchFamily="18" charset="0"/>
                          <a:cs typeface="Times New Roman" panose="02020603050405020304" pitchFamily="18" charset="0"/>
                        </a:rPr>
                        <a:t> (voice processing)</a:t>
                      </a:r>
                    </a:p>
                    <a:p>
                      <a:r>
                        <a:rPr lang="en-IN" sz="3600" dirty="0">
                          <a:latin typeface="Times New Roman" panose="02020603050405020304" pitchFamily="18" charset="0"/>
                          <a:cs typeface="Times New Roman" panose="02020603050405020304" pitchFamily="18" charset="0"/>
                        </a:rPr>
                        <a:t>TensorFlow / </a:t>
                      </a:r>
                      <a:r>
                        <a:rPr lang="en-IN" sz="3600" dirty="0" err="1">
                          <a:latin typeface="Times New Roman" panose="02020603050405020304" pitchFamily="18" charset="0"/>
                          <a:cs typeface="Times New Roman" panose="02020603050405020304" pitchFamily="18" charset="0"/>
                        </a:rPr>
                        <a:t>Keras</a:t>
                      </a:r>
                      <a:r>
                        <a:rPr lang="en-IN" sz="3600" dirty="0">
                          <a:latin typeface="Times New Roman" panose="02020603050405020304" pitchFamily="18" charset="0"/>
                          <a:cs typeface="Times New Roman" panose="02020603050405020304" pitchFamily="18" charset="0"/>
                        </a:rPr>
                        <a:t> (CNN, </a:t>
                      </a:r>
                      <a:r>
                        <a:rPr lang="en-IN" sz="3600" dirty="0" err="1">
                          <a:latin typeface="Times New Roman" panose="02020603050405020304" pitchFamily="18" charset="0"/>
                          <a:cs typeface="Times New Roman" panose="02020603050405020304" pitchFamily="18" charset="0"/>
                        </a:rPr>
                        <a:t>BiLSTM</a:t>
                      </a:r>
                      <a:r>
                        <a:rPr lang="en-IN" sz="3600" dirty="0">
                          <a:latin typeface="Times New Roman" panose="02020603050405020304" pitchFamily="18" charset="0"/>
                          <a:cs typeface="Times New Roman" panose="02020603050405020304" pitchFamily="18" charset="0"/>
                        </a:rPr>
                        <a:t>),scikit-learn(evaluation metrics)Matplotlib (visualization)</a:t>
                      </a:r>
                    </a:p>
                    <a:p>
                      <a:endParaRPr lang="en-IN" dirty="0"/>
                    </a:p>
                  </a:txBody>
                  <a:tcPr/>
                </a:tc>
                <a:extLst>
                  <a:ext uri="{0D108BD9-81ED-4DB2-BD59-A6C34878D82A}">
                    <a16:rowId xmlns:a16="http://schemas.microsoft.com/office/drawing/2014/main" val="109001480"/>
                  </a:ext>
                </a:extLst>
              </a:tr>
              <a:tr h="7575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Dataset</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Parkinson’s voice dataset (WAV audio  files</a:t>
                      </a:r>
                      <a:r>
                        <a:rPr lang="en-IN" sz="3600" dirty="0"/>
                        <a:t>)</a:t>
                      </a:r>
                    </a:p>
                    <a:p>
                      <a:endParaRPr lang="en-IN" dirty="0"/>
                    </a:p>
                  </a:txBody>
                  <a:tcPr/>
                </a:tc>
                <a:extLst>
                  <a:ext uri="{0D108BD9-81ED-4DB2-BD59-A6C34878D82A}">
                    <a16:rowId xmlns:a16="http://schemas.microsoft.com/office/drawing/2014/main" val="1006178405"/>
                  </a:ext>
                </a:extLst>
              </a:tr>
            </a:tbl>
          </a:graphicData>
        </a:graphic>
      </p:graphicFrame>
      <p:sp>
        <p:nvSpPr>
          <p:cNvPr id="6" name="TextBox 5">
            <a:extLst>
              <a:ext uri="{FF2B5EF4-FFF2-40B4-BE49-F238E27FC236}">
                <a16:creationId xmlns:a16="http://schemas.microsoft.com/office/drawing/2014/main" id="{9BB7EED1-A885-8CBE-2F50-FECC2715E53D}"/>
              </a:ext>
            </a:extLst>
          </p:cNvPr>
          <p:cNvSpPr txBox="1"/>
          <p:nvPr/>
        </p:nvSpPr>
        <p:spPr>
          <a:xfrm>
            <a:off x="2286000" y="2107972"/>
            <a:ext cx="4191000" cy="646331"/>
          </a:xfrm>
          <a:prstGeom prst="rect">
            <a:avLst/>
          </a:prstGeom>
          <a:noFill/>
        </p:spPr>
        <p:txBody>
          <a:bodyPr wrap="square" rtlCol="0">
            <a:spAutoFit/>
          </a:bodyPr>
          <a:lstStyle/>
          <a:p>
            <a:r>
              <a:rPr lang="en-IN" sz="3600" b="1" dirty="0">
                <a:solidFill>
                  <a:schemeClr val="bg1"/>
                </a:solidFill>
                <a:latin typeface="Times New Roman" panose="02020603050405020304" pitchFamily="18" charset="0"/>
                <a:cs typeface="Times New Roman" panose="02020603050405020304" pitchFamily="18" charset="0"/>
              </a:rPr>
              <a:t>COMPONENT</a:t>
            </a:r>
          </a:p>
        </p:txBody>
      </p:sp>
      <p:sp>
        <p:nvSpPr>
          <p:cNvPr id="8" name="TextBox 7">
            <a:extLst>
              <a:ext uri="{FF2B5EF4-FFF2-40B4-BE49-F238E27FC236}">
                <a16:creationId xmlns:a16="http://schemas.microsoft.com/office/drawing/2014/main" id="{A4498A8A-07CB-8657-D5A8-5EE8591FC6E0}"/>
              </a:ext>
            </a:extLst>
          </p:cNvPr>
          <p:cNvSpPr txBox="1"/>
          <p:nvPr/>
        </p:nvSpPr>
        <p:spPr>
          <a:xfrm>
            <a:off x="8462211" y="2082774"/>
            <a:ext cx="3962400" cy="646331"/>
          </a:xfrm>
          <a:prstGeom prst="rect">
            <a:avLst/>
          </a:prstGeom>
          <a:noFill/>
        </p:spPr>
        <p:txBody>
          <a:bodyPr wrap="square" rtlCol="0">
            <a:spAutoFit/>
          </a:bodyPr>
          <a:lstStyle/>
          <a:p>
            <a:r>
              <a:rPr lang="en-IN" sz="3600" b="1" dirty="0">
                <a:solidFill>
                  <a:schemeClr val="bg1"/>
                </a:solidFill>
                <a:latin typeface="Times New Roman" panose="02020603050405020304" pitchFamily="18" charset="0"/>
                <a:cs typeface="Times New Roman" panose="02020603050405020304" pitchFamily="18" charset="0"/>
              </a:rPr>
              <a:t>SPECIFICATION</a:t>
            </a:r>
          </a:p>
        </p:txBody>
      </p:sp>
    </p:spTree>
    <p:extLst>
      <p:ext uri="{BB962C8B-B14F-4D97-AF65-F5344CB8AC3E}">
        <p14:creationId xmlns:p14="http://schemas.microsoft.com/office/powerpoint/2010/main" val="350060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5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17" name="TextBox 17"/>
          <p:cNvSpPr txBox="1"/>
          <p:nvPr/>
        </p:nvSpPr>
        <p:spPr>
          <a:xfrm>
            <a:off x="4544425" y="3478633"/>
            <a:ext cx="9965580" cy="2052208"/>
          </a:xfrm>
          <a:prstGeom prst="rect">
            <a:avLst/>
          </a:prstGeom>
        </p:spPr>
        <p:txBody>
          <a:bodyPr lIns="50800" tIns="50800" rIns="50800" bIns="50800" rtlCol="0" anchor="ctr"/>
          <a:lstStyle/>
          <a:p>
            <a:pPr algn="l">
              <a:lnSpc>
                <a:spcPts val="3639"/>
              </a:lnSpc>
            </a:pPr>
            <a:endParaRPr lang="en-US" sz="2599" dirty="0">
              <a:solidFill>
                <a:srgbClr val="1800AD"/>
              </a:solidFill>
              <a:latin typeface="Poppins"/>
              <a:ea typeface="Poppins"/>
              <a:cs typeface="Poppins"/>
              <a:sym typeface="Poppins"/>
            </a:endParaRPr>
          </a:p>
        </p:txBody>
      </p:sp>
      <p:sp>
        <p:nvSpPr>
          <p:cNvPr id="31" name="TextBox 30">
            <a:extLst>
              <a:ext uri="{FF2B5EF4-FFF2-40B4-BE49-F238E27FC236}">
                <a16:creationId xmlns:a16="http://schemas.microsoft.com/office/drawing/2014/main" id="{08C5AFEB-55F8-D76A-F9E7-2E9EE70A8C1F}"/>
              </a:ext>
            </a:extLst>
          </p:cNvPr>
          <p:cNvSpPr txBox="1"/>
          <p:nvPr/>
        </p:nvSpPr>
        <p:spPr>
          <a:xfrm>
            <a:off x="762000" y="465296"/>
            <a:ext cx="14477999" cy="1969770"/>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HARDWARE REQUIREMENTS</a:t>
            </a:r>
          </a:p>
          <a:p>
            <a:endParaRPr lang="en-IN" dirty="0"/>
          </a:p>
          <a:p>
            <a:endParaRPr lang="en-IN" dirty="0"/>
          </a:p>
          <a:p>
            <a:endParaRPr lang="en-IN" sz="32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0862F24-03C3-A3F7-DA56-66D8D19BD283}"/>
              </a:ext>
            </a:extLst>
          </p:cNvPr>
          <p:cNvGraphicFramePr>
            <a:graphicFrameLocks noGrp="1"/>
          </p:cNvGraphicFramePr>
          <p:nvPr>
            <p:extLst>
              <p:ext uri="{D42A27DB-BD31-4B8C-83A1-F6EECF244321}">
                <p14:modId xmlns:p14="http://schemas.microsoft.com/office/powerpoint/2010/main" val="2461147126"/>
              </p:ext>
            </p:extLst>
          </p:nvPr>
        </p:nvGraphicFramePr>
        <p:xfrm>
          <a:off x="2209800" y="2435066"/>
          <a:ext cx="14020800" cy="4671888"/>
        </p:xfrm>
        <a:graphic>
          <a:graphicData uri="http://schemas.openxmlformats.org/drawingml/2006/table">
            <a:tbl>
              <a:tblPr firstRow="1" bandRow="1">
                <a:tableStyleId>{073A0DAA-6AF3-43AB-8588-CEC1D06C72B9}</a:tableStyleId>
              </a:tblPr>
              <a:tblGrid>
                <a:gridCol w="4194256">
                  <a:extLst>
                    <a:ext uri="{9D8B030D-6E8A-4147-A177-3AD203B41FA5}">
                      <a16:colId xmlns:a16="http://schemas.microsoft.com/office/drawing/2014/main" val="1828767582"/>
                    </a:ext>
                  </a:extLst>
                </a:gridCol>
                <a:gridCol w="9826544">
                  <a:extLst>
                    <a:ext uri="{9D8B030D-6E8A-4147-A177-3AD203B41FA5}">
                      <a16:colId xmlns:a16="http://schemas.microsoft.com/office/drawing/2014/main" val="1666280706"/>
                    </a:ext>
                  </a:extLst>
                </a:gridCol>
              </a:tblGrid>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24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                     </a:t>
                      </a:r>
                    </a:p>
                    <a:p>
                      <a:pPr algn="l"/>
                      <a:endParaRPr lang="en-IN" sz="4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6167303"/>
                  </a:ext>
                </a:extLst>
              </a:tr>
              <a:tr h="1029329">
                <a:tc>
                  <a:txBody>
                    <a:bodyPr/>
                    <a:lstStyle/>
                    <a:p>
                      <a:r>
                        <a:rPr lang="en-IN" sz="3600" b="1" dirty="0">
                          <a:latin typeface="Times New Roman" panose="02020603050405020304" pitchFamily="18" charset="0"/>
                          <a:cs typeface="Times New Roman" panose="02020603050405020304" pitchFamily="18" charset="0"/>
                        </a:rPr>
                        <a:t>Processor</a:t>
                      </a:r>
                      <a:endParaRPr lang="en-IN"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Intel i5 or higher (or equivalent)</a:t>
                      </a:r>
                    </a:p>
                    <a:p>
                      <a:endParaRPr lang="en-IN" dirty="0"/>
                    </a:p>
                  </a:txBody>
                  <a:tcPr/>
                </a:tc>
                <a:extLst>
                  <a:ext uri="{0D108BD9-81ED-4DB2-BD59-A6C34878D82A}">
                    <a16:rowId xmlns:a16="http://schemas.microsoft.com/office/drawing/2014/main" val="2478975283"/>
                  </a:ext>
                </a:extLst>
              </a:tr>
              <a:tr h="1010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RAM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Minimum 8 GB (16 GB    recommended)</a:t>
                      </a:r>
                    </a:p>
                    <a:p>
                      <a:endParaRPr lang="en-IN" sz="3600" dirty="0"/>
                    </a:p>
                  </a:txBody>
                  <a:tcPr/>
                </a:tc>
                <a:extLst>
                  <a:ext uri="{0D108BD9-81ED-4DB2-BD59-A6C34878D82A}">
                    <a16:rowId xmlns:a16="http://schemas.microsoft.com/office/drawing/2014/main" val="1390430022"/>
                  </a:ext>
                </a:extLst>
              </a:tr>
              <a:tr h="10822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b="1" dirty="0">
                          <a:latin typeface="Times New Roman" panose="02020603050405020304" pitchFamily="18" charset="0"/>
                          <a:cs typeface="Times New Roman" panose="02020603050405020304" pitchFamily="18" charset="0"/>
                        </a:rPr>
                        <a:t>Storage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600" dirty="0">
                          <a:latin typeface="Times New Roman" panose="02020603050405020304" pitchFamily="18" charset="0"/>
                          <a:cs typeface="Times New Roman" panose="02020603050405020304" pitchFamily="18" charset="0"/>
                        </a:rPr>
                        <a:t>10–20 GB free space</a:t>
                      </a:r>
                    </a:p>
                    <a:p>
                      <a:endParaRPr lang="en-IN" dirty="0"/>
                    </a:p>
                  </a:txBody>
                  <a:tcPr/>
                </a:tc>
                <a:extLst>
                  <a:ext uri="{0D108BD9-81ED-4DB2-BD59-A6C34878D82A}">
                    <a16:rowId xmlns:a16="http://schemas.microsoft.com/office/drawing/2014/main" val="1776359671"/>
                  </a:ext>
                </a:extLst>
              </a:tr>
            </a:tbl>
          </a:graphicData>
        </a:graphic>
      </p:graphicFrame>
      <p:sp>
        <p:nvSpPr>
          <p:cNvPr id="5" name="TextBox 4">
            <a:extLst>
              <a:ext uri="{FF2B5EF4-FFF2-40B4-BE49-F238E27FC236}">
                <a16:creationId xmlns:a16="http://schemas.microsoft.com/office/drawing/2014/main" id="{979CD7FB-535A-B599-3A44-F06E350A799D}"/>
              </a:ext>
            </a:extLst>
          </p:cNvPr>
          <p:cNvSpPr txBox="1"/>
          <p:nvPr/>
        </p:nvSpPr>
        <p:spPr>
          <a:xfrm>
            <a:off x="2723245" y="2772182"/>
            <a:ext cx="3352800" cy="646331"/>
          </a:xfrm>
          <a:prstGeom prst="rect">
            <a:avLst/>
          </a:prstGeom>
          <a:noFill/>
        </p:spPr>
        <p:txBody>
          <a:bodyPr wrap="square" rtlCol="0">
            <a:spAutoFit/>
          </a:bodyPr>
          <a:lstStyle/>
          <a:p>
            <a:r>
              <a:rPr lang="en-IN" sz="3600" b="1" dirty="0">
                <a:solidFill>
                  <a:schemeClr val="bg1"/>
                </a:solidFill>
                <a:latin typeface="Times New Roman" panose="02020603050405020304" pitchFamily="18" charset="0"/>
                <a:cs typeface="Times New Roman" panose="02020603050405020304" pitchFamily="18" charset="0"/>
              </a:rPr>
              <a:t>COMPONENT</a:t>
            </a:r>
          </a:p>
        </p:txBody>
      </p:sp>
      <p:sp>
        <p:nvSpPr>
          <p:cNvPr id="6" name="TextBox 5">
            <a:extLst>
              <a:ext uri="{FF2B5EF4-FFF2-40B4-BE49-F238E27FC236}">
                <a16:creationId xmlns:a16="http://schemas.microsoft.com/office/drawing/2014/main" id="{6A88AC97-DBE8-138C-5ECC-46B8F8444117}"/>
              </a:ext>
            </a:extLst>
          </p:cNvPr>
          <p:cNvSpPr txBox="1"/>
          <p:nvPr/>
        </p:nvSpPr>
        <p:spPr>
          <a:xfrm>
            <a:off x="7391400" y="2772183"/>
            <a:ext cx="5943600" cy="646331"/>
          </a:xfrm>
          <a:prstGeom prst="rect">
            <a:avLst/>
          </a:prstGeom>
          <a:noFill/>
        </p:spPr>
        <p:txBody>
          <a:bodyPr wrap="square" rtlCol="0">
            <a:spAutoFit/>
          </a:bodyPr>
          <a:lstStyle/>
          <a:p>
            <a:r>
              <a:rPr lang="en-IN" sz="3600" b="1" dirty="0">
                <a:solidFill>
                  <a:schemeClr val="bg1"/>
                </a:solidFill>
                <a:latin typeface="Times New Roman" panose="02020603050405020304" pitchFamily="18" charset="0"/>
                <a:cs typeface="Times New Roman" panose="02020603050405020304" pitchFamily="18" charset="0"/>
              </a:rPr>
              <a:t>SPECIFICATION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27820-BDDD-93D3-FF20-E071A86473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19BCA48-E274-8EA5-DCF8-F0A3B3458FF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r>
              <a:rPr lang="en-IN" dirty="0"/>
              <a:t>  </a:t>
            </a:r>
          </a:p>
          <a:p>
            <a:r>
              <a:rPr lang="en-IN" dirty="0"/>
              <a:t>                   </a:t>
            </a:r>
            <a:r>
              <a:rPr lang="en-IN" sz="5400" b="1" dirty="0">
                <a:latin typeface="Times New Roman" panose="02020603050405020304" pitchFamily="18" charset="0"/>
                <a:cs typeface="Times New Roman" panose="02020603050405020304" pitchFamily="18" charset="0"/>
              </a:rPr>
              <a:t>OUTPUT </a:t>
            </a:r>
          </a:p>
        </p:txBody>
      </p:sp>
      <p:sp>
        <p:nvSpPr>
          <p:cNvPr id="7" name="TextBox 7">
            <a:extLst>
              <a:ext uri="{FF2B5EF4-FFF2-40B4-BE49-F238E27FC236}">
                <a16:creationId xmlns:a16="http://schemas.microsoft.com/office/drawing/2014/main" id="{2A524BF7-A442-DCDA-9543-BAAB071E6292}"/>
              </a:ext>
            </a:extLst>
          </p:cNvPr>
          <p:cNvSpPr txBox="1"/>
          <p:nvPr/>
        </p:nvSpPr>
        <p:spPr>
          <a:xfrm>
            <a:off x="6132537" y="1112624"/>
            <a:ext cx="6022926" cy="694742"/>
          </a:xfrm>
          <a:prstGeom prst="rect">
            <a:avLst/>
          </a:prstGeom>
        </p:spPr>
        <p:txBody>
          <a:bodyPr lIns="0" tIns="0" rIns="0" bIns="0" rtlCol="0" anchor="t">
            <a:spAutoFit/>
          </a:bodyPr>
          <a:lstStyle/>
          <a:p>
            <a:pPr algn="ctr">
              <a:lnSpc>
                <a:spcPts val="5713"/>
              </a:lnSpc>
              <a:spcBef>
                <a:spcPct val="0"/>
              </a:spcBef>
            </a:pPr>
            <a:endParaRPr lang="en-US" sz="4080" b="1" dirty="0">
              <a:solidFill>
                <a:schemeClr val="tx1">
                  <a:lumMod val="75000"/>
                  <a:lumOff val="25000"/>
                </a:schemeClr>
              </a:solidFill>
              <a:latin typeface="Poppins Bold"/>
              <a:ea typeface="Poppins Bold"/>
              <a:cs typeface="Poppins Bold"/>
              <a:sym typeface="Poppins Bold"/>
            </a:endParaRPr>
          </a:p>
        </p:txBody>
      </p:sp>
      <p:pic>
        <p:nvPicPr>
          <p:cNvPr id="5" name="Picture 4">
            <a:extLst>
              <a:ext uri="{FF2B5EF4-FFF2-40B4-BE49-F238E27FC236}">
                <a16:creationId xmlns:a16="http://schemas.microsoft.com/office/drawing/2014/main" id="{41CC28CA-1B9A-167C-D299-3A1009F705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409700"/>
            <a:ext cx="10209544" cy="8305800"/>
          </a:xfrm>
          <a:prstGeom prst="rect">
            <a:avLst/>
          </a:prstGeom>
        </p:spPr>
      </p:pic>
    </p:spTree>
    <p:extLst>
      <p:ext uri="{BB962C8B-B14F-4D97-AF65-F5344CB8AC3E}">
        <p14:creationId xmlns:p14="http://schemas.microsoft.com/office/powerpoint/2010/main" val="272102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EEB8-4A22-371A-3F6D-42ECFB0B64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A79F4F-FAAE-BFCB-A618-9D171B4C464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r>
              <a:rPr lang="en-IN" dirty="0"/>
              <a:t>  </a:t>
            </a:r>
          </a:p>
          <a:p>
            <a:r>
              <a:rPr lang="en-IN" dirty="0"/>
              <a:t>                   </a:t>
            </a:r>
            <a:r>
              <a:rPr lang="en-IN" sz="5400" b="1" dirty="0">
                <a:latin typeface="Times New Roman" panose="02020603050405020304" pitchFamily="18" charset="0"/>
                <a:cs typeface="Times New Roman" panose="02020603050405020304" pitchFamily="18" charset="0"/>
              </a:rPr>
              <a:t>OUTPUT</a:t>
            </a:r>
          </a:p>
        </p:txBody>
      </p:sp>
      <p:sp>
        <p:nvSpPr>
          <p:cNvPr id="7" name="TextBox 7">
            <a:extLst>
              <a:ext uri="{FF2B5EF4-FFF2-40B4-BE49-F238E27FC236}">
                <a16:creationId xmlns:a16="http://schemas.microsoft.com/office/drawing/2014/main" id="{437DFD1C-CEFF-2595-97EC-0506D6959774}"/>
              </a:ext>
            </a:extLst>
          </p:cNvPr>
          <p:cNvSpPr txBox="1"/>
          <p:nvPr/>
        </p:nvSpPr>
        <p:spPr>
          <a:xfrm>
            <a:off x="6132537" y="1112624"/>
            <a:ext cx="6022926" cy="694742"/>
          </a:xfrm>
          <a:prstGeom prst="rect">
            <a:avLst/>
          </a:prstGeom>
        </p:spPr>
        <p:txBody>
          <a:bodyPr lIns="0" tIns="0" rIns="0" bIns="0" rtlCol="0" anchor="t">
            <a:spAutoFit/>
          </a:bodyPr>
          <a:lstStyle/>
          <a:p>
            <a:pPr algn="ctr">
              <a:lnSpc>
                <a:spcPts val="5713"/>
              </a:lnSpc>
              <a:spcBef>
                <a:spcPct val="0"/>
              </a:spcBef>
            </a:pPr>
            <a:endParaRPr lang="en-US" sz="4080" b="1" dirty="0">
              <a:solidFill>
                <a:schemeClr val="tx1">
                  <a:lumMod val="75000"/>
                  <a:lumOff val="25000"/>
                </a:schemeClr>
              </a:solidFill>
              <a:latin typeface="Poppins Bold"/>
              <a:ea typeface="Poppins Bold"/>
              <a:cs typeface="Poppins Bold"/>
              <a:sym typeface="Poppins Bold"/>
            </a:endParaRPr>
          </a:p>
        </p:txBody>
      </p:sp>
      <p:pic>
        <p:nvPicPr>
          <p:cNvPr id="4" name="Picture 3">
            <a:extLst>
              <a:ext uri="{FF2B5EF4-FFF2-40B4-BE49-F238E27FC236}">
                <a16:creationId xmlns:a16="http://schemas.microsoft.com/office/drawing/2014/main" id="{E97A5E86-1340-84A8-ADA4-C72085F2C1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6800" y="1333500"/>
            <a:ext cx="6022926" cy="8269522"/>
          </a:xfrm>
          <a:prstGeom prst="rect">
            <a:avLst/>
          </a:prstGeom>
        </p:spPr>
      </p:pic>
    </p:spTree>
    <p:extLst>
      <p:ext uri="{BB962C8B-B14F-4D97-AF65-F5344CB8AC3E}">
        <p14:creationId xmlns:p14="http://schemas.microsoft.com/office/powerpoint/2010/main" val="3120864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36F20-8F2F-8C2A-D0B9-44ADBA15BD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47A38F-2465-3FF2-E57E-E30257582E3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r>
              <a:rPr lang="en-IN" dirty="0"/>
              <a:t>  </a:t>
            </a:r>
          </a:p>
          <a:p>
            <a:r>
              <a:rPr lang="en-IN" dirty="0"/>
              <a:t>                   </a:t>
            </a:r>
            <a:r>
              <a:rPr lang="en-IN" sz="5400" b="1" dirty="0">
                <a:latin typeface="Times New Roman" panose="02020603050405020304" pitchFamily="18" charset="0"/>
                <a:cs typeface="Times New Roman" panose="02020603050405020304" pitchFamily="18" charset="0"/>
              </a:rPr>
              <a:t>OUTPUT</a:t>
            </a:r>
          </a:p>
        </p:txBody>
      </p:sp>
      <p:sp>
        <p:nvSpPr>
          <p:cNvPr id="7" name="TextBox 7">
            <a:extLst>
              <a:ext uri="{FF2B5EF4-FFF2-40B4-BE49-F238E27FC236}">
                <a16:creationId xmlns:a16="http://schemas.microsoft.com/office/drawing/2014/main" id="{195851D0-497D-1F12-A933-EA24A65EC5F2}"/>
              </a:ext>
            </a:extLst>
          </p:cNvPr>
          <p:cNvSpPr txBox="1"/>
          <p:nvPr/>
        </p:nvSpPr>
        <p:spPr>
          <a:xfrm>
            <a:off x="6132537" y="1112624"/>
            <a:ext cx="6022926" cy="694742"/>
          </a:xfrm>
          <a:prstGeom prst="rect">
            <a:avLst/>
          </a:prstGeom>
        </p:spPr>
        <p:txBody>
          <a:bodyPr lIns="0" tIns="0" rIns="0" bIns="0" rtlCol="0" anchor="t">
            <a:spAutoFit/>
          </a:bodyPr>
          <a:lstStyle/>
          <a:p>
            <a:pPr algn="ctr">
              <a:lnSpc>
                <a:spcPts val="5713"/>
              </a:lnSpc>
              <a:spcBef>
                <a:spcPct val="0"/>
              </a:spcBef>
            </a:pPr>
            <a:endParaRPr lang="en-US" sz="4080" b="1" dirty="0">
              <a:solidFill>
                <a:schemeClr val="tx1">
                  <a:lumMod val="75000"/>
                  <a:lumOff val="25000"/>
                </a:schemeClr>
              </a:solidFill>
              <a:latin typeface="Poppins Bold"/>
              <a:ea typeface="Poppins Bold"/>
              <a:cs typeface="Poppins Bold"/>
              <a:sym typeface="Poppins Bold"/>
            </a:endParaRPr>
          </a:p>
        </p:txBody>
      </p:sp>
      <p:pic>
        <p:nvPicPr>
          <p:cNvPr id="8" name="Picture 7">
            <a:extLst>
              <a:ext uri="{FF2B5EF4-FFF2-40B4-BE49-F238E27FC236}">
                <a16:creationId xmlns:a16="http://schemas.microsoft.com/office/drawing/2014/main" id="{8514B107-A713-62E8-773D-7A2E89463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1111846"/>
            <a:ext cx="10617087" cy="8301146"/>
          </a:xfrm>
          <a:prstGeom prst="rect">
            <a:avLst/>
          </a:prstGeom>
        </p:spPr>
      </p:pic>
    </p:spTree>
    <p:extLst>
      <p:ext uri="{BB962C8B-B14F-4D97-AF65-F5344CB8AC3E}">
        <p14:creationId xmlns:p14="http://schemas.microsoft.com/office/powerpoint/2010/main" val="1291590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9383-5A8C-EF4D-7930-56FA167DCF4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406AF7-4A12-06DC-DB12-43437D6F2CC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4" name="TextBox 3">
            <a:extLst>
              <a:ext uri="{FF2B5EF4-FFF2-40B4-BE49-F238E27FC236}">
                <a16:creationId xmlns:a16="http://schemas.microsoft.com/office/drawing/2014/main" id="{1845B07C-69E4-3F89-8098-CF9C8C5C8DD0}"/>
              </a:ext>
            </a:extLst>
          </p:cNvPr>
          <p:cNvSpPr txBox="1"/>
          <p:nvPr/>
        </p:nvSpPr>
        <p:spPr>
          <a:xfrm>
            <a:off x="381000" y="571500"/>
            <a:ext cx="13642211" cy="923330"/>
          </a:xfrm>
          <a:prstGeom prst="rect">
            <a:avLst/>
          </a:prstGeom>
          <a:noFill/>
        </p:spPr>
        <p:txBody>
          <a:bodyPr wrap="square">
            <a:spAutoFit/>
          </a:bodyPr>
          <a:lstStyle/>
          <a:p>
            <a:r>
              <a:rPr lang="en-IN" sz="5400" b="1" dirty="0">
                <a:latin typeface="Times New Roman" panose="02020603050405020304" pitchFamily="18" charset="0"/>
                <a:cs typeface="Times New Roman" panose="02020603050405020304" pitchFamily="18" charset="0"/>
              </a:rPr>
              <a:t> OUTCOMES</a:t>
            </a:r>
            <a:endParaRPr lang="en-IN" sz="5400" b="1" dirty="0"/>
          </a:p>
        </p:txBody>
      </p:sp>
      <p:sp>
        <p:nvSpPr>
          <p:cNvPr id="5" name="TextBox 4">
            <a:extLst>
              <a:ext uri="{FF2B5EF4-FFF2-40B4-BE49-F238E27FC236}">
                <a16:creationId xmlns:a16="http://schemas.microsoft.com/office/drawing/2014/main" id="{D7976CA2-97F0-09D5-5EBC-91E172919CC1}"/>
              </a:ext>
            </a:extLst>
          </p:cNvPr>
          <p:cNvSpPr txBox="1"/>
          <p:nvPr/>
        </p:nvSpPr>
        <p:spPr>
          <a:xfrm>
            <a:off x="1371600" y="1638300"/>
            <a:ext cx="15544800" cy="6740307"/>
          </a:xfrm>
          <a:prstGeom prst="rect">
            <a:avLst/>
          </a:prstGeom>
          <a:noFill/>
        </p:spPr>
        <p:txBody>
          <a:bodyPr wrap="square">
            <a:spAutoFit/>
          </a:bodyPr>
          <a:lstStyle/>
          <a:p>
            <a:pPr algn="just">
              <a:buNone/>
            </a:pPr>
            <a:r>
              <a:rPr lang="en-US" sz="3600" dirty="0">
                <a:latin typeface="Times New Roman" panose="02020603050405020304" pitchFamily="18" charset="0"/>
                <a:cs typeface="Times New Roman" panose="02020603050405020304" pitchFamily="18" charset="0"/>
              </a:rPr>
              <a:t>The proposed Parkinson’s Disease Detection using Voice system successfully analyzes uploaded .wav audio samples and predicts whether the subject shows signs of Parkinson’s disease.</a:t>
            </a:r>
          </a:p>
          <a:p>
            <a:pPr algn="just">
              <a:buNone/>
            </a:pPr>
            <a:r>
              <a:rPr lang="en-US" sz="3600" dirty="0">
                <a:latin typeface="Times New Roman" panose="02020603050405020304" pitchFamily="18" charset="0"/>
                <a:cs typeface="Times New Roman" panose="02020603050405020304" pitchFamily="18" charset="0"/>
              </a:rPr>
              <a:t>After uploading the voice sample:</a:t>
            </a:r>
          </a:p>
          <a:p>
            <a:pPr algn="just">
              <a:buNone/>
            </a:pPr>
            <a:endParaRPr lang="en-US" sz="3600"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system preprocesses the audio and extracts relevant acoustic features.</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trained CNN +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Autoencoder model computes the reconstruction            error.</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reconstruction error is compared with a predefined threshold value.</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If the error exceeds the threshold, the system classifies the sample as Parkinson Detected.</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If the error is below the threshold, the system classifies the sample as Healthy.</a:t>
            </a:r>
          </a:p>
        </p:txBody>
      </p:sp>
    </p:spTree>
    <p:extLst>
      <p:ext uri="{BB962C8B-B14F-4D97-AF65-F5344CB8AC3E}">
        <p14:creationId xmlns:p14="http://schemas.microsoft.com/office/powerpoint/2010/main" val="4029508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dirty="0"/>
          </a:p>
        </p:txBody>
      </p:sp>
      <p:sp>
        <p:nvSpPr>
          <p:cNvPr id="7" name="TextBox 7"/>
          <p:cNvSpPr txBox="1"/>
          <p:nvPr/>
        </p:nvSpPr>
        <p:spPr>
          <a:xfrm>
            <a:off x="838200" y="1562100"/>
            <a:ext cx="6022926" cy="730969"/>
          </a:xfrm>
          <a:prstGeom prst="rect">
            <a:avLst/>
          </a:prstGeom>
        </p:spPr>
        <p:txBody>
          <a:bodyPr lIns="0" tIns="0" rIns="0" bIns="0" rtlCol="0" anchor="t">
            <a:spAutoFit/>
          </a:bodyPr>
          <a:lstStyle/>
          <a:p>
            <a:pPr algn="ctr">
              <a:lnSpc>
                <a:spcPts val="5713"/>
              </a:lnSpc>
              <a:spcBef>
                <a:spcPct val="0"/>
              </a:spcBef>
            </a:pPr>
            <a:r>
              <a:rPr lang="en-US" sz="5400" b="1" dirty="0">
                <a:latin typeface="Times New Roman" panose="02020603050405020304" pitchFamily="18" charset="0"/>
                <a:ea typeface="Poppins Bold"/>
                <a:cs typeface="Times New Roman" panose="02020603050405020304" pitchFamily="18" charset="0"/>
                <a:sym typeface="Poppins Bold"/>
              </a:rPr>
              <a:t>CONCLUSION</a:t>
            </a:r>
          </a:p>
        </p:txBody>
      </p:sp>
      <p:sp>
        <p:nvSpPr>
          <p:cNvPr id="4" name="TextBox 3">
            <a:extLst>
              <a:ext uri="{FF2B5EF4-FFF2-40B4-BE49-F238E27FC236}">
                <a16:creationId xmlns:a16="http://schemas.microsoft.com/office/drawing/2014/main" id="{206F5FF8-3CF2-03E3-6151-A412B9683A35}"/>
              </a:ext>
            </a:extLst>
          </p:cNvPr>
          <p:cNvSpPr txBox="1"/>
          <p:nvPr/>
        </p:nvSpPr>
        <p:spPr>
          <a:xfrm>
            <a:off x="1752600" y="2628900"/>
            <a:ext cx="15582900" cy="4524315"/>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In conclusion, this project successfully demonstrates a deep learning–based approach for detecting Parkinson’s Disease using voice signals.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By extracting MFCC features and applying a CNN + </a:t>
            </a:r>
            <a:r>
              <a:rPr lang="en-US" sz="3600" dirty="0" err="1">
                <a:latin typeface="Times New Roman" panose="02020603050405020304" pitchFamily="18" charset="0"/>
                <a:cs typeface="Times New Roman" panose="02020603050405020304" pitchFamily="18" charset="0"/>
              </a:rPr>
              <a:t>BiLSTM</a:t>
            </a:r>
            <a:r>
              <a:rPr lang="en-US" sz="3600" dirty="0">
                <a:latin typeface="Times New Roman" panose="02020603050405020304" pitchFamily="18" charset="0"/>
                <a:cs typeface="Times New Roman" panose="02020603050405020304" pitchFamily="18" charset="0"/>
              </a:rPr>
              <a:t> Autoencoder model, the system effectively identifies speech abnormalities associated with the disease.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proposed method offers a non-invasive, efficient, and reliable solution for early screening and has the potential to be further improved with larger and more diverse datasets.</a:t>
            </a:r>
            <a:endParaRPr lang="en-IN" sz="36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174D4292-4DCB-A0DC-8FA4-D804AFEB99A5}"/>
              </a:ext>
            </a:extLst>
          </p:cNvPr>
          <p:cNvSpPr/>
          <p:nvPr/>
        </p:nvSpPr>
        <p:spPr>
          <a:xfrm>
            <a:off x="0" y="8120"/>
            <a:ext cx="18288000" cy="108204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sz="28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a:t>
            </a:r>
          </a:p>
          <a:p>
            <a:pPr algn="just"/>
            <a:endParaRPr lang="en-IN"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60F0188-68C5-D09B-328B-BE9CD6673880}"/>
              </a:ext>
            </a:extLst>
          </p:cNvPr>
          <p:cNvSpPr txBox="1"/>
          <p:nvPr/>
        </p:nvSpPr>
        <p:spPr>
          <a:xfrm>
            <a:off x="1219200" y="1295400"/>
            <a:ext cx="16192500" cy="6647974"/>
          </a:xfrm>
          <a:prstGeom prst="rect">
            <a:avLst/>
          </a:prstGeom>
          <a:noFill/>
        </p:spPr>
        <p:txBody>
          <a:bodyPr wrap="square" rtlCol="0">
            <a:spAutoFit/>
          </a:bodyPr>
          <a:lstStyle/>
          <a:p>
            <a:r>
              <a:rPr lang="en-IN" sz="5400" b="1" dirty="0">
                <a:latin typeface="Times New Roman" panose="02020603050405020304" pitchFamily="18" charset="0"/>
                <a:cs typeface="Times New Roman" panose="02020603050405020304" pitchFamily="18" charset="0"/>
              </a:rPr>
              <a:t>REFERENCES</a:t>
            </a:r>
          </a:p>
          <a:p>
            <a:endParaRPr lang="en-IN" sz="3200" b="1" dirty="0">
              <a:latin typeface="Times New Roman" panose="02020603050405020304" pitchFamily="18" charset="0"/>
              <a:cs typeface="Times New Roman" panose="02020603050405020304" pitchFamily="18" charset="0"/>
            </a:endParaRPr>
          </a:p>
          <a:p>
            <a:pPr marL="722313" indent="-722313" algn="just"/>
            <a:r>
              <a:rPr lang="en-IN" sz="3400" dirty="0">
                <a:latin typeface="Times New Roman" panose="02020603050405020304" pitchFamily="18" charset="0"/>
                <a:cs typeface="Times New Roman" panose="02020603050405020304" pitchFamily="18" charset="0"/>
              </a:rPr>
              <a:t>[1] M. Gilat et al., “A systematic review on exercise and training-based  interventions for freezing of gait in Parkinson’s    disease,” </a:t>
            </a:r>
            <a:r>
              <a:rPr lang="en-IN" sz="3400" dirty="0" err="1">
                <a:latin typeface="Times New Roman" panose="02020603050405020304" pitchFamily="18" charset="0"/>
                <a:cs typeface="Times New Roman" panose="02020603050405020304" pitchFamily="18" charset="0"/>
              </a:rPr>
              <a:t>npj</a:t>
            </a:r>
            <a:r>
              <a:rPr lang="en-IN" sz="3400" dirty="0">
                <a:latin typeface="Times New Roman" panose="02020603050405020304" pitchFamily="18" charset="0"/>
                <a:cs typeface="Times New Roman" panose="02020603050405020304" pitchFamily="18" charset="0"/>
              </a:rPr>
              <a:t> Parkinson’s Disease, vol. 7, no. 1, pp. 1–18, Sep. 2021.</a:t>
            </a:r>
          </a:p>
          <a:p>
            <a:pPr algn="just"/>
            <a:endParaRPr lang="en-IN" sz="3400" dirty="0">
              <a:latin typeface="Times New Roman" panose="02020603050405020304" pitchFamily="18" charset="0"/>
              <a:cs typeface="Times New Roman" panose="02020603050405020304" pitchFamily="18" charset="0"/>
            </a:endParaRPr>
          </a:p>
          <a:p>
            <a:pPr marL="722313" indent="-722313" algn="just"/>
            <a:r>
              <a:rPr lang="en-IN" sz="3400" dirty="0">
                <a:latin typeface="Times New Roman" panose="02020603050405020304" pitchFamily="18" charset="0"/>
                <a:cs typeface="Times New Roman" panose="02020603050405020304" pitchFamily="18" charset="0"/>
              </a:rPr>
              <a:t>[2] E. Tolosa, A. Garrido, S. Scholz, and W. </a:t>
            </a:r>
            <a:r>
              <a:rPr lang="en-IN" sz="3400" dirty="0" err="1">
                <a:latin typeface="Times New Roman" panose="02020603050405020304" pitchFamily="18" charset="0"/>
                <a:cs typeface="Times New Roman" panose="02020603050405020304" pitchFamily="18" charset="0"/>
              </a:rPr>
              <a:t>Poewe</a:t>
            </a:r>
            <a:r>
              <a:rPr lang="en-IN" sz="3400" dirty="0">
                <a:latin typeface="Times New Roman" panose="02020603050405020304" pitchFamily="18" charset="0"/>
                <a:cs typeface="Times New Roman" panose="02020603050405020304" pitchFamily="18" charset="0"/>
              </a:rPr>
              <a:t>, “Challenges in the diagnosis of Parkinson’s disease,” Lancet Neurol., vol. 20, no. 5,pp. 385–397, 2021.</a:t>
            </a:r>
          </a:p>
          <a:p>
            <a:pPr algn="just"/>
            <a:endParaRPr lang="en-IN" sz="3400" dirty="0">
              <a:latin typeface="Times New Roman" panose="02020603050405020304" pitchFamily="18" charset="0"/>
              <a:cs typeface="Times New Roman" panose="02020603050405020304" pitchFamily="18" charset="0"/>
            </a:endParaRPr>
          </a:p>
          <a:p>
            <a:pPr marL="801688" indent="-801688" algn="just"/>
            <a:r>
              <a:rPr lang="en-IN" sz="3400" dirty="0">
                <a:latin typeface="Times New Roman" panose="02020603050405020304" pitchFamily="18" charset="0"/>
                <a:cs typeface="Times New Roman" panose="02020603050405020304" pitchFamily="18" charset="0"/>
              </a:rPr>
              <a:t>[3] Y. Yang et al., “Artificial intelligence-enabled detection and assessment of Parkinson’s disease using nocturnal breathing signals,” Nature Med., vol. 28, no. 10, pp. 2207–2215, Oct. 2022</a:t>
            </a:r>
            <a:endParaRPr lang="en-IN" sz="3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3E447-9810-E83B-3642-F7522B55E930}"/>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FC543179-F059-27A4-CBE8-7143B10F1EF8}"/>
              </a:ext>
            </a:extLst>
          </p:cNvPr>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C51D9DBF-BB65-52E6-0624-88D97E64624C}"/>
              </a:ext>
            </a:extLst>
          </p:cNvPr>
          <p:cNvSpPr/>
          <p:nvPr/>
        </p:nvSpPr>
        <p:spPr>
          <a:xfrm>
            <a:off x="-2373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2" name="TextBox 1">
            <a:extLst>
              <a:ext uri="{FF2B5EF4-FFF2-40B4-BE49-F238E27FC236}">
                <a16:creationId xmlns:a16="http://schemas.microsoft.com/office/drawing/2014/main" id="{F1FED7E6-147E-621D-0A43-21F83885179C}"/>
              </a:ext>
            </a:extLst>
          </p:cNvPr>
          <p:cNvSpPr txBox="1"/>
          <p:nvPr/>
        </p:nvSpPr>
        <p:spPr>
          <a:xfrm>
            <a:off x="1676400" y="1451303"/>
            <a:ext cx="13944600" cy="7694414"/>
          </a:xfrm>
          <a:prstGeom prst="rect">
            <a:avLst/>
          </a:prstGeom>
          <a:noFill/>
        </p:spPr>
        <p:txBody>
          <a:bodyPr wrap="square" rtlCol="0">
            <a:spAutoFit/>
          </a:bodyPr>
          <a:lstStyle/>
          <a:p>
            <a:pPr marL="801688" indent="-801688" algn="just"/>
            <a:r>
              <a:rPr lang="en-IN" sz="3400" dirty="0">
                <a:latin typeface="Times New Roman" panose="02020603050405020304" pitchFamily="18" charset="0"/>
                <a:cs typeface="Times New Roman" panose="02020603050405020304" pitchFamily="18" charset="0"/>
              </a:rPr>
              <a:t>[4] L. Sigcha et al., “Improvement of performance in freezing of gait      detection in Parkinson’s disease using transformer networks and a single Waist–Worn triaxial accelerometer,” Eng. Appl. </a:t>
            </a:r>
            <a:r>
              <a:rPr lang="en-IN" sz="3400" dirty="0" err="1">
                <a:latin typeface="Times New Roman" panose="02020603050405020304" pitchFamily="18" charset="0"/>
                <a:cs typeface="Times New Roman" panose="02020603050405020304" pitchFamily="18" charset="0"/>
              </a:rPr>
              <a:t>Artif</a:t>
            </a:r>
            <a:r>
              <a:rPr lang="en-IN" sz="3400" dirty="0">
                <a:latin typeface="Times New Roman" panose="02020603050405020304" pitchFamily="18" charset="0"/>
                <a:cs typeface="Times New Roman" panose="02020603050405020304" pitchFamily="18" charset="0"/>
              </a:rPr>
              <a:t>. </a:t>
            </a:r>
            <a:r>
              <a:rPr lang="en-IN" sz="3400" dirty="0" err="1">
                <a:latin typeface="Times New Roman" panose="02020603050405020304" pitchFamily="18" charset="0"/>
                <a:cs typeface="Times New Roman" panose="02020603050405020304" pitchFamily="18" charset="0"/>
              </a:rPr>
              <a:t>Intell</a:t>
            </a:r>
            <a:r>
              <a:rPr lang="en-IN" sz="3400" dirty="0">
                <a:latin typeface="Times New Roman" panose="02020603050405020304" pitchFamily="18" charset="0"/>
                <a:cs typeface="Times New Roman" panose="02020603050405020304" pitchFamily="18" charset="0"/>
              </a:rPr>
              <a:t>., vol. 116,  Nov. 2022, Art. no. 105482.</a:t>
            </a:r>
          </a:p>
          <a:p>
            <a:pPr algn="just"/>
            <a:endParaRPr lang="en-IN" sz="3400" dirty="0">
              <a:latin typeface="Times New Roman" panose="02020603050405020304" pitchFamily="18" charset="0"/>
              <a:cs typeface="Times New Roman" panose="02020603050405020304" pitchFamily="18" charset="0"/>
            </a:endParaRPr>
          </a:p>
          <a:p>
            <a:pPr marL="801688" indent="-801688" algn="just"/>
            <a:r>
              <a:rPr lang="en-IN" sz="3400" dirty="0">
                <a:latin typeface="Times New Roman" panose="02020603050405020304" pitchFamily="18" charset="0"/>
                <a:cs typeface="Times New Roman" panose="02020603050405020304" pitchFamily="18" charset="0"/>
              </a:rPr>
              <a:t>[5]  L. Pepa, M. Capecci, E. </a:t>
            </a:r>
            <a:r>
              <a:rPr lang="en-IN" sz="3400" dirty="0" err="1">
                <a:latin typeface="Times New Roman" panose="02020603050405020304" pitchFamily="18" charset="0"/>
                <a:cs typeface="Times New Roman" panose="02020603050405020304" pitchFamily="18" charset="0"/>
              </a:rPr>
              <a:t>Andrenelli</a:t>
            </a:r>
            <a:r>
              <a:rPr lang="en-IN" sz="3400" dirty="0">
                <a:latin typeface="Times New Roman" panose="02020603050405020304" pitchFamily="18" charset="0"/>
                <a:cs typeface="Times New Roman" panose="02020603050405020304" pitchFamily="18" charset="0"/>
              </a:rPr>
              <a:t>, L. Ciabattoni, L. </a:t>
            </a:r>
            <a:r>
              <a:rPr lang="en-IN" sz="3400" dirty="0" err="1">
                <a:latin typeface="Times New Roman" panose="02020603050405020304" pitchFamily="18" charset="0"/>
                <a:cs typeface="Times New Roman" panose="02020603050405020304" pitchFamily="18" charset="0"/>
              </a:rPr>
              <a:t>Spalazzi</a:t>
            </a:r>
            <a:r>
              <a:rPr lang="en-IN" sz="3400" dirty="0">
                <a:latin typeface="Times New Roman" panose="02020603050405020304" pitchFamily="18" charset="0"/>
                <a:cs typeface="Times New Roman" panose="02020603050405020304" pitchFamily="18" charset="0"/>
              </a:rPr>
              <a:t>, and M. G. Ceravolo, “A fuzzy logic system for the home assessment of freezing of gait in subjects with Parkinsons disease,” Expert Syst. Appl., vol. 147, Jun. 2020, Art. no. 113197.</a:t>
            </a:r>
          </a:p>
          <a:p>
            <a:pPr algn="just"/>
            <a:endParaRPr lang="en-IN" sz="3400" dirty="0">
              <a:latin typeface="Times New Roman" panose="02020603050405020304" pitchFamily="18" charset="0"/>
              <a:cs typeface="Times New Roman" panose="02020603050405020304" pitchFamily="18" charset="0"/>
            </a:endParaRPr>
          </a:p>
          <a:p>
            <a:pPr marL="898525" indent="-898525" algn="just"/>
            <a:r>
              <a:rPr lang="en-IN" sz="3400" dirty="0">
                <a:latin typeface="Times New Roman" panose="02020603050405020304" pitchFamily="18" charset="0"/>
                <a:cs typeface="Times New Roman" panose="02020603050405020304" pitchFamily="18" charset="0"/>
              </a:rPr>
              <a:t>[6] R. Ou et al., “Freezing of gait in Parkinson’s disease with glucocerebrosidase mutations: Prevalence, clinical correlates and effect on </a:t>
            </a:r>
            <a:r>
              <a:rPr lang="en-IN" sz="3400" dirty="0" err="1">
                <a:latin typeface="Times New Roman" panose="02020603050405020304" pitchFamily="18" charset="0"/>
                <a:cs typeface="Times New Roman" panose="02020603050405020304" pitchFamily="18" charset="0"/>
              </a:rPr>
              <a:t>qualityof</a:t>
            </a:r>
            <a:r>
              <a:rPr lang="en-IN" sz="3400" dirty="0">
                <a:latin typeface="Times New Roman" panose="02020603050405020304" pitchFamily="18" charset="0"/>
                <a:cs typeface="Times New Roman" panose="02020603050405020304" pitchFamily="18" charset="0"/>
              </a:rPr>
              <a:t> life,” Frontiers </a:t>
            </a:r>
            <a:r>
              <a:rPr lang="en-IN" sz="3400" dirty="0" err="1">
                <a:latin typeface="Times New Roman" panose="02020603050405020304" pitchFamily="18" charset="0"/>
                <a:cs typeface="Times New Roman" panose="02020603050405020304" pitchFamily="18" charset="0"/>
              </a:rPr>
              <a:t>Neurosci</a:t>
            </a:r>
            <a:r>
              <a:rPr lang="en-IN" sz="3400" dirty="0">
                <a:latin typeface="Times New Roman" panose="02020603050405020304" pitchFamily="18" charset="0"/>
                <a:cs typeface="Times New Roman" panose="02020603050405020304" pitchFamily="18" charset="0"/>
              </a:rPr>
              <a:t>., vol. 17, Nov. 2023, Art. no. 1288631</a:t>
            </a:r>
          </a:p>
          <a:p>
            <a:endParaRPr lang="en-IN" dirty="0"/>
          </a:p>
        </p:txBody>
      </p:sp>
    </p:spTree>
    <p:extLst>
      <p:ext uri="{BB962C8B-B14F-4D97-AF65-F5344CB8AC3E}">
        <p14:creationId xmlns:p14="http://schemas.microsoft.com/office/powerpoint/2010/main" val="839446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F34E7-6CD5-9962-8753-76665349C548}"/>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30D720CE-9CD0-E17D-0515-DD7B3ABC5C0A}"/>
              </a:ext>
            </a:extLst>
          </p:cNvPr>
          <p:cNvSpPr txBox="1"/>
          <p:nvPr/>
        </p:nvSpPr>
        <p:spPr>
          <a:xfrm>
            <a:off x="10287000" y="3173909"/>
            <a:ext cx="18288000" cy="6440795"/>
          </a:xfrm>
          <a:prstGeom prst="rect">
            <a:avLst/>
          </a:prstGeom>
        </p:spPr>
        <p:txBody>
          <a:bodyPr lIns="50800" tIns="50800" rIns="50800" bIns="50800" rtlCol="0" anchor="ctr"/>
          <a:lstStyle/>
          <a:p>
            <a:pPr algn="ctr">
              <a:lnSpc>
                <a:spcPts val="2659"/>
              </a:lnSpc>
            </a:pPr>
            <a:endParaRPr/>
          </a:p>
        </p:txBody>
      </p:sp>
      <p:sp>
        <p:nvSpPr>
          <p:cNvPr id="7" name="Freeform 2">
            <a:extLst>
              <a:ext uri="{FF2B5EF4-FFF2-40B4-BE49-F238E27FC236}">
                <a16:creationId xmlns:a16="http://schemas.microsoft.com/office/drawing/2014/main" id="{09F84FA8-BF2D-19D0-0D89-786BCAD4870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2" name="TextBox 1">
            <a:extLst>
              <a:ext uri="{FF2B5EF4-FFF2-40B4-BE49-F238E27FC236}">
                <a16:creationId xmlns:a16="http://schemas.microsoft.com/office/drawing/2014/main" id="{2F0301F8-16A8-C995-8CF5-4E66FC015CDB}"/>
              </a:ext>
            </a:extLst>
          </p:cNvPr>
          <p:cNvSpPr txBox="1"/>
          <p:nvPr/>
        </p:nvSpPr>
        <p:spPr>
          <a:xfrm>
            <a:off x="4953000" y="3924300"/>
            <a:ext cx="7162800" cy="1569660"/>
          </a:xfrm>
          <a:prstGeom prst="rect">
            <a:avLst/>
          </a:prstGeom>
          <a:noFill/>
        </p:spPr>
        <p:txBody>
          <a:bodyPr wrap="square" rtlCol="0">
            <a:spAutoFit/>
          </a:bodyPr>
          <a:lstStyle/>
          <a:p>
            <a:r>
              <a:rPr lang="en-IN" sz="9600" dirty="0">
                <a:latin typeface="Algerian" panose="04020705040A02060702" pitchFamily="82" charset="0"/>
                <a:cs typeface="Times New Roman" panose="02020603050405020304" pitchFamily="18" charset="0"/>
              </a:rPr>
              <a:t>THANK YOU</a:t>
            </a:r>
          </a:p>
        </p:txBody>
      </p:sp>
    </p:spTree>
    <p:extLst>
      <p:ext uri="{BB962C8B-B14F-4D97-AF65-F5344CB8AC3E}">
        <p14:creationId xmlns:p14="http://schemas.microsoft.com/office/powerpoint/2010/main" val="318878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1276</TotalTime>
  <Words>1745</Words>
  <Application>Microsoft Office PowerPoint</Application>
  <PresentationFormat>Custom</PresentationFormat>
  <Paragraphs>226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Times New Roman</vt:lpstr>
      <vt:lpstr>Algerian</vt:lpstr>
      <vt:lpstr>Poppins</vt:lpstr>
      <vt:lpstr>Calibri</vt:lpstr>
      <vt:lpstr>Poppins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&amp;  white business profile presentation</dc:title>
  <dc:creator>E Pathmapriyaa</dc:creator>
  <cp:lastModifiedBy>Pathma priyaa.E</cp:lastModifiedBy>
  <cp:revision>28</cp:revision>
  <dcterms:created xsi:type="dcterms:W3CDTF">2006-08-16T00:00:00Z</dcterms:created>
  <dcterms:modified xsi:type="dcterms:W3CDTF">2026-05-06T07:35:33Z</dcterms:modified>
  <dc:identifier>DAG4rrqCy1w</dc:identifier>
</cp:coreProperties>
</file>